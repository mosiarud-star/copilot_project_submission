
<file path=[Content_Types].xml><?xml version="1.0" encoding="utf-8"?>
<Types xmlns="http://schemas.openxmlformats.org/package/2006/content-type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
  </p:notesMasterIdLst>
  <p:sldIdLst>
    <p:sldId id="256" r:id="rId2"/>
    <p:sldId id="257" r:id="rId3"/>
    <p:sldId id="258" r:id="rId4"/>
    <p:sldId id="259" r:id="rId5"/>
    <p:sldId id="260" r:id="rId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0" autoAdjust="0"/>
    <p:restoredTop sz="60959" autoAdjust="0"/>
  </p:normalViewPr>
  <p:slideViewPr>
    <p:cSldViewPr snapToGrid="0">
      <p:cViewPr varScale="1">
        <p:scale>
          <a:sx n="74" d="100"/>
          <a:sy n="74" d="100"/>
        </p:scale>
        <p:origin x="1584"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barChart>
        <c:barDir val="col"/>
        <c:grouping val="clustered"/>
        <c:varyColors val="0"/>
        <c:ser>
          <c:idx val="0"/>
          <c:order val="0"/>
          <c:tx>
            <c:strRef>
              <c:f>Sheet1!$B$1</c:f>
              <c:strCache>
                <c:ptCount val="1"/>
                <c:pt idx="0">
                  <c:v>Delivery Timeline (days)</c:v>
                </c:pt>
              </c:strCache>
            </c:strRef>
          </c:tx>
          <c:spPr>
            <a:solidFill>
              <a:srgbClr val="EB1700"/>
            </a:solidFill>
            <a:effectLst/>
          </c:spPr>
          <c:invertIfNegative val="0"/>
          <c:dLbls>
            <c:numFmt formatCode="#,##0" sourceLinked="0"/>
            <c:spPr>
              <a:noFill/>
              <a:ln>
                <a:noFill/>
              </a:ln>
              <a:effectLst/>
            </c:spPr>
            <c:txPr>
              <a:bodyPr/>
              <a:lstStyle/>
              <a:p>
                <a:pPr>
                  <a:defRPr sz="1000" b="0" i="0" u="none" strike="noStrike">
                    <a:solidFill>
                      <a:srgbClr val="212121"/>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BIND567</c:v>
                </c:pt>
                <c:pt idx="1">
                  <c:v>COMP042</c:v>
                </c:pt>
                <c:pt idx="2">
                  <c:v>COMP043</c:v>
                </c:pt>
              </c:strCache>
            </c:strRef>
          </c:cat>
          <c:val>
            <c:numRef>
              <c:f>Sheet1!$B$2:$B$4</c:f>
              <c:numCache>
                <c:formatCode>General</c:formatCode>
                <c:ptCount val="3"/>
                <c:pt idx="0">
                  <c:v>64</c:v>
                </c:pt>
                <c:pt idx="1">
                  <c:v>13</c:v>
                </c:pt>
                <c:pt idx="2">
                  <c:v>8</c:v>
                </c:pt>
              </c:numCache>
            </c:numRef>
          </c:val>
          <c:extLst>
            <c:ext xmlns:c16="http://schemas.microsoft.com/office/drawing/2014/chart" uri="{C3380CC4-5D6E-409C-BE32-E72D297353CC}">
              <c16:uniqueId val="{00000000-6E08-4B80-BD6C-253AD85BA069}"/>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55555"/>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8E8E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999999"/>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0F0F0"/>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barChart>
        <c:barDir val="col"/>
        <c:grouping val="clustered"/>
        <c:varyColors val="0"/>
        <c:ser>
          <c:idx val="0"/>
          <c:order val="0"/>
          <c:tx>
            <c:strRef>
              <c:f>Sheet1!$B$1</c:f>
              <c:strCache>
                <c:ptCount val="1"/>
                <c:pt idx="0">
                  <c:v>Lead Time Variance (days)</c:v>
                </c:pt>
              </c:strCache>
            </c:strRef>
          </c:tx>
          <c:spPr>
            <a:solidFill>
              <a:srgbClr val="003479"/>
            </a:solidFill>
            <a:effectLst/>
          </c:spPr>
          <c:invertIfNegative val="0"/>
          <c:dLbls>
            <c:numFmt formatCode="#,##0" sourceLinked="0"/>
            <c:spPr>
              <a:noFill/>
              <a:ln>
                <a:noFill/>
              </a:ln>
              <a:effectLst/>
            </c:spPr>
            <c:txPr>
              <a:bodyPr/>
              <a:lstStyle/>
              <a:p>
                <a:pPr>
                  <a:defRPr sz="1000" b="0" i="0" u="none" strike="noStrike">
                    <a:solidFill>
                      <a:srgbClr val="212121"/>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BIND567</c:v>
                </c:pt>
                <c:pt idx="1">
                  <c:v>COMP042</c:v>
                </c:pt>
                <c:pt idx="2">
                  <c:v>COMP043</c:v>
                </c:pt>
              </c:strCache>
            </c:strRef>
          </c:cat>
          <c:val>
            <c:numRef>
              <c:f>Sheet1!$B$2:$B$4</c:f>
              <c:numCache>
                <c:formatCode>General</c:formatCode>
                <c:ptCount val="3"/>
                <c:pt idx="0">
                  <c:v>26</c:v>
                </c:pt>
                <c:pt idx="1">
                  <c:v>8</c:v>
                </c:pt>
                <c:pt idx="2">
                  <c:v>5</c:v>
                </c:pt>
              </c:numCache>
            </c:numRef>
          </c:val>
          <c:extLst>
            <c:ext xmlns:c16="http://schemas.microsoft.com/office/drawing/2014/chart" uri="{C3380CC4-5D6E-409C-BE32-E72D297353CC}">
              <c16:uniqueId val="{00000000-69B3-4F0B-8686-79AD86FB1425}"/>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55555"/>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8E8E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999999"/>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0F0F0"/>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121284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Welcome and Context</a:t>
            </a:r>
          </a:p>
          <a:p>
            <a:r>
              <a:rPr lang="en-US"/>
              <a:t>Welcome to the Supply Chain Challenges, Compliance Findings, and Recommended Actions presentation. This briefing summarizes our findings from the supply chain risk and compliance analysis across three critical components: BIND567, COMP042, and COMP043.</a:t>
            </a:r>
          </a:p>
          <a:p>
            <a:r>
              <a:rPr lang="en-US"/>
              <a:t> </a:t>
            </a:r>
          </a:p>
          <a:p>
            <a:r>
              <a:rPr lang="en-US" b="1"/>
              <a:t>Objective</a:t>
            </a:r>
          </a:p>
          <a:p>
            <a:r>
              <a:rPr lang="en-US"/>
              <a:t>Our objective today is to walk leadership through the main operational and compliance risks we have identified, explain their root causes with supporting data, and align on the priority actions needed to improve supply resilience, quality, and FDA compliance readiness.</a:t>
            </a:r>
          </a:p>
          <a:p>
            <a:r>
              <a:rPr lang="en-US"/>
              <a:t> </a:t>
            </a:r>
          </a:p>
          <a:p>
            <a:r>
              <a:rPr lang="en-US" b="1"/>
              <a:t>Expected Outcome</a:t>
            </a:r>
          </a:p>
          <a:p>
            <a:r>
              <a:rPr lang="en-US"/>
              <a:t>By the end of this session, we should have clear ownership assignments and an agreed timeline for execution across all action streams.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Scope and Key Issues</a:t>
            </a:r>
          </a:p>
          <a:p>
            <a:r>
              <a:rPr lang="en-US"/>
              <a:t>This slide provides a high-level summary structured around three pillars — Scope, Key Issues, and Objective — followed by component-level detail for each flagged item.</a:t>
            </a:r>
          </a:p>
          <a:p>
            <a:r>
              <a:rPr lang="en-US"/>
              <a:t> </a:t>
            </a:r>
          </a:p>
          <a:p>
            <a:r>
              <a:rPr lang="en-US" b="1"/>
              <a:t>BIND567 (EcoSupply)</a:t>
            </a:r>
          </a:p>
          <a:p>
            <a:r>
              <a:rPr lang="en-US"/>
              <a:t>The 64-day delivery timeline is the longest across all three components. While EcoSupply shows generally strong reliability, the 26-day lead time variance means planning uncertainty remains a significant concern. Long replenishment cycles reduce our flexibility to respond when timing slips.</a:t>
            </a:r>
          </a:p>
          <a:p>
            <a:r>
              <a:rPr lang="en-US"/>
              <a:t> </a:t>
            </a:r>
          </a:p>
          <a:p>
            <a:r>
              <a:rPr lang="en-US" b="1"/>
              <a:t>COMP042 (PrimeLogistics)</a:t>
            </a:r>
          </a:p>
          <a:p>
            <a:r>
              <a:rPr lang="en-US"/>
              <a:t>PrimeLogistics has lower supplier reliability compared with stronger performers. The 13-day timeline exceeds typical thresholds and may require expedited shipping, increasing cost pressure and reducing operational flexibility.</a:t>
            </a:r>
          </a:p>
          <a:p>
            <a:r>
              <a:rPr lang="en-US"/>
              <a:t> </a:t>
            </a:r>
          </a:p>
          <a:p>
            <a:r>
              <a:rPr lang="en-US" b="1"/>
              <a:t>COMP043 (NextGen Pharma)</a:t>
            </a:r>
          </a:p>
          <a:p>
            <a:r>
              <a:rPr lang="en-US"/>
              <a:t>This component has a relatively high defect rate and weaker forecast accuracy. These quality and planning issues could disrupt production continuity and create additional compliance pressure if not addressed proactively.</a:t>
            </a:r>
          </a:p>
          <a:p>
            <a:r>
              <a:rPr lang="en-US"/>
              <a:t> </a:t>
            </a:r>
          </a:p>
          <a:p>
            <a:r>
              <a:rPr lang="en-US" b="1"/>
              <a:t>FDA Compliance Note</a:t>
            </a:r>
          </a:p>
          <a:p>
            <a:r>
              <a:rPr lang="en-US"/>
              <a:t>All three components are flagged for FDA compliance monitoring. Late deliveries, expediting decisions, or supplier adjustments require disciplined documentation to avoid audit gaps and maintain traceability.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Data Insights Overview</a:t>
            </a:r>
          </a:p>
          <a:p>
            <a:r>
              <a:rPr lang="en-US"/>
              <a:t>This dashboard gives us the headline metrics from the analysis. Let me highlight what matters most.</a:t>
            </a:r>
          </a:p>
          <a:p>
            <a:r>
              <a:rPr lang="en-US"/>
              <a:t> </a:t>
            </a:r>
          </a:p>
          <a:p>
            <a:r>
              <a:rPr lang="en-US" b="1"/>
              <a:t>KPI Targets</a:t>
            </a:r>
          </a:p>
          <a:p>
            <a:r>
              <a:rPr lang="en-US"/>
              <a:t>The 95% on-time delivery target is our primary supply continuity indicator. We are targeting a defect rate below 2% for high-priority components. All three flagged components currently carry a Medium risk rating, which is manageable but warrants tighter control.</a:t>
            </a:r>
          </a:p>
          <a:p>
            <a:r>
              <a:rPr lang="en-US"/>
              <a:t> </a:t>
            </a:r>
          </a:p>
          <a:p>
            <a:r>
              <a:rPr lang="en-US" b="1"/>
              <a:t>Delivery Timeline Chart</a:t>
            </a:r>
          </a:p>
          <a:p>
            <a:r>
              <a:rPr lang="en-US"/>
              <a:t>The left chart shows the stark contrast in delivery timelines. BIND567 at 64 days is nearly five times longer than COMP042 at 13 days and eight times longer than COMP043 at 8 days. This long cycle time is the primary driver of planning risk for BIND567.</a:t>
            </a:r>
          </a:p>
          <a:p>
            <a:r>
              <a:rPr lang="en-US"/>
              <a:t> </a:t>
            </a:r>
          </a:p>
          <a:p>
            <a:r>
              <a:rPr lang="en-US" b="1"/>
              <a:t>Lead Time Variance Chart</a:t>
            </a:r>
          </a:p>
          <a:p>
            <a:r>
              <a:rPr lang="en-US"/>
              <a:t>The right chart shows lead time variance — the unpredictability factor. BIND567 again leads at 26 days of variance, which means even though average delivery is 64 days, actual receipt could swing significantly. COMP042 shows 8 days and COMP043 shows 5 days of variance. High variance makes inventory planning unreliable and increases the likelihood of reactive interventions.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Proposed Solutions Overview</a:t>
            </a:r>
          </a:p>
          <a:p>
            <a:r>
              <a:rPr lang="en-US"/>
              <a:t>Based on our analysis, we have five prioritized recommendations, each with a clear owner and focus area.</a:t>
            </a:r>
          </a:p>
          <a:p>
            <a:r>
              <a:rPr lang="en-US"/>
              <a:t> </a:t>
            </a:r>
          </a:p>
          <a:p>
            <a:r>
              <a:rPr lang="en-US" b="1"/>
              <a:t>Action 1 — BIND567 Supplier Management</a:t>
            </a:r>
          </a:p>
          <a:p>
            <a:r>
              <a:rPr lang="en-US"/>
              <a:t>Priority one is negotiating expedited shipping terms with EcoSupply and increasing inventory buffers. Because overall supplier reliability is strong, the most useful action is improved planning discipline and earlier order triggering rather than immediate supplier replacement.</a:t>
            </a:r>
          </a:p>
          <a:p>
            <a:r>
              <a:rPr lang="en-US"/>
              <a:t> </a:t>
            </a:r>
          </a:p>
          <a:p>
            <a:r>
              <a:rPr lang="en-US" b="1"/>
              <a:t>Action 2 — COMP042 Delivery</a:t>
            </a:r>
          </a:p>
          <a:p>
            <a:r>
              <a:rPr lang="en-US"/>
              <a:t>Work with PrimeLogistics on demand planning alignment and adjust order cycles to account for lead time variance. If performance does not improve, prequalifying an alternative source would reduce operational risk.</a:t>
            </a:r>
          </a:p>
          <a:p>
            <a:r>
              <a:rPr lang="en-US"/>
              <a:t> </a:t>
            </a:r>
          </a:p>
          <a:p>
            <a:r>
              <a:rPr lang="en-US" b="1"/>
              <a:t>Action 3 — COMP043 Quality</a:t>
            </a:r>
          </a:p>
          <a:p>
            <a:r>
              <a:rPr lang="en-US"/>
              <a:t>The relatively high defect rate indicates the need for enhanced incoming inspection, supplier quality review, and root cause follow-up. Weaker forecast accuracy should be addressed through closer demand planning coordination.</a:t>
            </a:r>
          </a:p>
          <a:p>
            <a:r>
              <a:rPr lang="en-US"/>
              <a:t> </a:t>
            </a:r>
          </a:p>
          <a:p>
            <a:r>
              <a:rPr lang="en-US" b="1"/>
              <a:t>Actions 4 and 5 — Cross-Cutting</a:t>
            </a:r>
          </a:p>
          <a:p>
            <a:r>
              <a:rPr lang="en-US"/>
              <a:t>Qualifying secondary suppliers provides contingency coverage, while strengthening monitoring dashboards gives us early warning on delivery, defect, and inventory trends. These preventive controls move us away from reactive firefighting toward a controlled operating model.</a:t>
            </a:r>
          </a:p>
          <a:p>
            <a:r>
              <a:rPr lang="en-US"/>
              <a:t> </a:t>
            </a:r>
          </a:p>
          <a:p>
            <a:r>
              <a:rPr lang="en-US" b="1"/>
              <a:t>Key Insight</a:t>
            </a:r>
          </a:p>
          <a:p>
            <a:r>
              <a:rPr lang="en-US"/>
              <a:t>Overdue maintenance drives a 44% higher defect rate. Current mitigation plans rely heavily on expediting and inventory increases — addressing symptoms rather than root causes. We need to shift toward preventive controls.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Implementation Plan Overview</a:t>
            </a:r>
          </a:p>
          <a:p>
            <a:r>
              <a:rPr lang="en-US"/>
              <a:t>This slide lays out our three-phase action plan with clear timelines and monitoring framework.</a:t>
            </a:r>
          </a:p>
          <a:p>
            <a:r>
              <a:rPr lang="en-US"/>
              <a:t> </a:t>
            </a:r>
          </a:p>
          <a:p>
            <a:r>
              <a:rPr lang="en-US" b="1"/>
              <a:t>Immediate Actions (0–1 Week)</a:t>
            </a:r>
          </a:p>
          <a:p>
            <a:r>
              <a:rPr lang="en-US"/>
              <a:t>Starting this week, we need to notify suppliers of schedule sensitivity and request expedited shipping options where timing is at risk. We should conduct a rapid review of alternative supply coverage and adjust production plans to protect compliance windows. These are the quick wins that reduce exposure immediately.</a:t>
            </a:r>
          </a:p>
          <a:p>
            <a:r>
              <a:rPr lang="en-US"/>
              <a:t> </a:t>
            </a:r>
          </a:p>
          <a:p>
            <a:r>
              <a:rPr lang="en-US" b="1"/>
              <a:t>Short-Term Actions (1–3 Weeks)</a:t>
            </a:r>
          </a:p>
          <a:p>
            <a:r>
              <a:rPr lang="en-US"/>
              <a:t>Over the next few weeks, we work with suppliers to refine delivery schedules and reduce lead time variability. We update inventory management rules to reflect revised safety stock assumptions and prepare supporting compliance documentation for any approved mitigation actions.</a:t>
            </a:r>
          </a:p>
          <a:p>
            <a:r>
              <a:rPr lang="en-US"/>
              <a:t> </a:t>
            </a:r>
          </a:p>
          <a:p>
            <a:r>
              <a:rPr lang="en-US" b="1"/>
              <a:t>Long-Term Actions (1–3 Months)</a:t>
            </a:r>
          </a:p>
          <a:p>
            <a:r>
              <a:rPr lang="en-US"/>
              <a:t>Over the next quarter, we evaluate supplier performance trends, formalize contingency agreements with secondary suppliers, and implement stronger analytics to improve forecasting, inventory planning, and early risk detection. This is the structural work that prevents recurrence.</a:t>
            </a:r>
          </a:p>
          <a:p>
            <a:r>
              <a:rPr lang="en-US"/>
              <a:t> </a:t>
            </a:r>
          </a:p>
          <a:p>
            <a:r>
              <a:rPr lang="en-US" b="1"/>
              <a:t>Monitoring Framework</a:t>
            </a:r>
          </a:p>
          <a:p>
            <a:r>
              <a:rPr lang="en-US"/>
              <a:t>We will track on-time delivery rate targeting at least 95%, maintain defect rates below 2%, and establish a reporting cadence of daily exception reviews, weekly status summaries, and monthly performance assessments.</a:t>
            </a:r>
          </a:p>
          <a:p>
            <a:r>
              <a:rPr lang="en-US"/>
              <a:t> </a:t>
            </a:r>
          </a:p>
          <a:p>
            <a:r>
              <a:rPr lang="en-US" b="1"/>
              <a:t>Call to Action</a:t>
            </a:r>
          </a:p>
          <a:p>
            <a:r>
              <a:rPr lang="en-US"/>
              <a:t>Let us confirm action owners today and begin execution immediately. Cross-functional ownership is essential — no single team should carry the full burden. Every week of delay costs us measurable quality and compliance exposure.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chart" Target="../charts/char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EB1700"/>
        </a:solidFill>
        <a:effectLst/>
      </p:bgPr>
    </p:bg>
    <p:spTree>
      <p:nvGrpSpPr>
        <p:cNvPr id="1" name=""/>
        <p:cNvGrpSpPr/>
        <p:nvPr/>
      </p:nvGrpSpPr>
      <p:grpSpPr>
        <a:xfrm>
          <a:off x="0" y="0"/>
          <a:ext cx="0" cy="0"/>
          <a:chOff x="0" y="0"/>
          <a:chExt cx="0" cy="0"/>
        </a:xfrm>
      </p:grpSpPr>
      <p:sp>
        <p:nvSpPr>
          <p:cNvPr id="2" name="Shape 0"/>
          <p:cNvSpPr/>
          <p:nvPr/>
        </p:nvSpPr>
        <p:spPr>
          <a:xfrm>
            <a:off x="0" y="2011680"/>
            <a:ext cx="9144000" cy="3131820"/>
          </a:xfrm>
          <a:prstGeom prst="rect">
            <a:avLst/>
          </a:prstGeom>
          <a:solidFill>
            <a:srgbClr val="212121"/>
          </a:solidFill>
          <a:ln/>
        </p:spPr>
        <p:txBody>
          <a:bodyPr/>
          <a:lstStyle/>
          <a:p>
            <a:endParaRPr lang="en-US"/>
          </a:p>
        </p:txBody>
      </p:sp>
      <p:sp>
        <p:nvSpPr>
          <p:cNvPr id="3" name="Text 1"/>
          <p:cNvSpPr/>
          <p:nvPr/>
        </p:nvSpPr>
        <p:spPr>
          <a:xfrm>
            <a:off x="731520" y="457200"/>
            <a:ext cx="7315200" cy="365760"/>
          </a:xfrm>
          <a:prstGeom prst="rect">
            <a:avLst/>
          </a:prstGeom>
          <a:noFill/>
          <a:ln/>
        </p:spPr>
        <p:txBody>
          <a:bodyPr wrap="square" lIns="0" tIns="0" rIns="0" bIns="0" rtlCol="0" anchor="ctr"/>
          <a:lstStyle/>
          <a:p>
            <a:pPr marL="0" indent="0">
              <a:buNone/>
            </a:pPr>
            <a:r>
              <a:rPr lang="en-US" sz="1300" b="1" dirty="0">
                <a:solidFill>
                  <a:srgbClr val="FFFFFF"/>
                </a:solidFill>
                <a:latin typeface="Arial" pitchFamily="34" charset="0"/>
                <a:ea typeface="Arial" pitchFamily="34" charset="-122"/>
                <a:cs typeface="Arial" pitchFamily="34" charset="-120"/>
              </a:rPr>
              <a:t>JANSSEN BUSINESS TECHNOLOGY</a:t>
            </a:r>
            <a:endParaRPr lang="en-US" sz="1300" dirty="0"/>
          </a:p>
        </p:txBody>
      </p:sp>
      <p:sp>
        <p:nvSpPr>
          <p:cNvPr id="4" name="Text 2"/>
          <p:cNvSpPr/>
          <p:nvPr/>
        </p:nvSpPr>
        <p:spPr>
          <a:xfrm>
            <a:off x="731520" y="868680"/>
            <a:ext cx="7315200" cy="320040"/>
          </a:xfrm>
          <a:prstGeom prst="rect">
            <a:avLst/>
          </a:prstGeom>
          <a:noFill/>
          <a:ln/>
        </p:spPr>
        <p:txBody>
          <a:bodyPr wrap="square" lIns="0" tIns="0" rIns="0" bIns="0" rtlCol="0" anchor="ctr"/>
          <a:lstStyle/>
          <a:p>
            <a:pPr marL="0" indent="0">
              <a:buNone/>
            </a:pPr>
            <a:r>
              <a:rPr lang="en-US" sz="1300" b="1" dirty="0">
                <a:solidFill>
                  <a:srgbClr val="00A0DF"/>
                </a:solidFill>
                <a:latin typeface="Arial" pitchFamily="34" charset="0"/>
                <a:ea typeface="Arial" pitchFamily="34" charset="-122"/>
                <a:cs typeface="Arial" pitchFamily="34" charset="-120"/>
              </a:rPr>
              <a:t>EMEA Business Technology</a:t>
            </a:r>
            <a:endParaRPr lang="en-US" sz="1300" dirty="0"/>
          </a:p>
        </p:txBody>
      </p:sp>
      <p:sp>
        <p:nvSpPr>
          <p:cNvPr id="5" name="Text 3"/>
          <p:cNvSpPr/>
          <p:nvPr/>
        </p:nvSpPr>
        <p:spPr>
          <a:xfrm>
            <a:off x="731520" y="2240280"/>
            <a:ext cx="7680960" cy="1463040"/>
          </a:xfrm>
          <a:prstGeom prst="rect">
            <a:avLst/>
          </a:prstGeom>
          <a:noFill/>
          <a:ln/>
        </p:spPr>
        <p:txBody>
          <a:bodyPr wrap="square" lIns="0" tIns="0" rIns="0" bIns="0" rtlCol="0" anchor="ctr"/>
          <a:lstStyle/>
          <a:p>
            <a:pPr marL="0" indent="0">
              <a:lnSpc>
                <a:spcPct val="115000"/>
              </a:lnSpc>
              <a:buNone/>
            </a:pPr>
            <a:r>
              <a:rPr lang="en-US" sz="3000" b="1" dirty="0">
                <a:solidFill>
                  <a:srgbClr val="FFFFFF"/>
                </a:solidFill>
                <a:latin typeface="Arial" pitchFamily="34" charset="0"/>
                <a:ea typeface="Arial" pitchFamily="34" charset="-122"/>
                <a:cs typeface="Arial" pitchFamily="34" charset="-120"/>
              </a:rPr>
              <a:t>Supply Chain Challenges,</a:t>
            </a:r>
            <a:endParaRPr lang="en-US" sz="3000" dirty="0"/>
          </a:p>
          <a:p>
            <a:pPr marL="0" indent="0">
              <a:lnSpc>
                <a:spcPct val="115000"/>
              </a:lnSpc>
              <a:buNone/>
            </a:pPr>
            <a:r>
              <a:rPr lang="en-US" sz="3000" b="1" dirty="0">
                <a:solidFill>
                  <a:srgbClr val="FFFFFF"/>
                </a:solidFill>
                <a:latin typeface="Arial" pitchFamily="34" charset="0"/>
                <a:ea typeface="Arial" pitchFamily="34" charset="-122"/>
                <a:cs typeface="Arial" pitchFamily="34" charset="-120"/>
              </a:rPr>
              <a:t>Compliance Findings &amp;</a:t>
            </a:r>
            <a:endParaRPr lang="en-US" sz="3000" dirty="0"/>
          </a:p>
          <a:p>
            <a:pPr marL="0" indent="0">
              <a:lnSpc>
                <a:spcPct val="115000"/>
              </a:lnSpc>
              <a:buNone/>
            </a:pPr>
            <a:r>
              <a:rPr lang="en-US" sz="3000" b="1" dirty="0">
                <a:solidFill>
                  <a:srgbClr val="FFFFFF"/>
                </a:solidFill>
                <a:latin typeface="Arial" pitchFamily="34" charset="0"/>
                <a:ea typeface="Arial" pitchFamily="34" charset="-122"/>
                <a:cs typeface="Arial" pitchFamily="34" charset="-120"/>
              </a:rPr>
              <a:t>Recommended Actions</a:t>
            </a:r>
            <a:endParaRPr lang="en-US" sz="3000" dirty="0"/>
          </a:p>
        </p:txBody>
      </p:sp>
      <p:sp>
        <p:nvSpPr>
          <p:cNvPr id="6" name="Text 4"/>
          <p:cNvSpPr/>
          <p:nvPr/>
        </p:nvSpPr>
        <p:spPr>
          <a:xfrm>
            <a:off x="731520" y="3794760"/>
            <a:ext cx="7315200" cy="320040"/>
          </a:xfrm>
          <a:prstGeom prst="rect">
            <a:avLst/>
          </a:prstGeom>
          <a:noFill/>
          <a:ln/>
        </p:spPr>
        <p:txBody>
          <a:bodyPr wrap="square" lIns="0" tIns="0" rIns="0" bIns="0" rtlCol="0" anchor="ctr"/>
          <a:lstStyle/>
          <a:p>
            <a:pPr marL="0" indent="0">
              <a:buNone/>
            </a:pPr>
            <a:r>
              <a:rPr lang="en-US" sz="1300" dirty="0">
                <a:solidFill>
                  <a:srgbClr val="FFBAB4"/>
                </a:solidFill>
                <a:latin typeface="Arial" pitchFamily="34" charset="0"/>
                <a:ea typeface="Arial" pitchFamily="34" charset="-122"/>
                <a:cs typeface="Arial" pitchFamily="34" charset="-120"/>
              </a:rPr>
              <a:t>FDA Compliance Analysis &amp; Operational Review</a:t>
            </a:r>
            <a:endParaRPr lang="en-US" sz="1300" dirty="0"/>
          </a:p>
        </p:txBody>
      </p:sp>
      <p:sp>
        <p:nvSpPr>
          <p:cNvPr id="7" name="Text 5"/>
          <p:cNvSpPr/>
          <p:nvPr/>
        </p:nvSpPr>
        <p:spPr>
          <a:xfrm>
            <a:off x="731520" y="4297680"/>
            <a:ext cx="3657600" cy="320040"/>
          </a:xfrm>
          <a:prstGeom prst="rect">
            <a:avLst/>
          </a:prstGeom>
          <a:noFill/>
          <a:ln/>
        </p:spPr>
        <p:txBody>
          <a:bodyPr wrap="square" lIns="0" tIns="0" rIns="0" bIns="0" rtlCol="0" anchor="ctr"/>
          <a:lstStyle/>
          <a:p>
            <a:pPr marL="0" indent="0">
              <a:buNone/>
            </a:pPr>
            <a:r>
              <a:rPr lang="en-US" sz="1300" b="1" dirty="0">
                <a:solidFill>
                  <a:srgbClr val="FFFFFF"/>
                </a:solidFill>
                <a:latin typeface="Arial" pitchFamily="34" charset="0"/>
                <a:ea typeface="Arial" pitchFamily="34" charset="-122"/>
                <a:cs typeface="Arial" pitchFamily="34" charset="-120"/>
              </a:rPr>
              <a:t>2026 MAY</a:t>
            </a:r>
            <a:endParaRPr lang="en-US" sz="1300" dirty="0"/>
          </a:p>
        </p:txBody>
      </p:sp>
      <p:sp>
        <p:nvSpPr>
          <p:cNvPr id="8" name="Text 6"/>
          <p:cNvSpPr/>
          <p:nvPr/>
        </p:nvSpPr>
        <p:spPr>
          <a:xfrm>
            <a:off x="731520" y="4617720"/>
            <a:ext cx="3657600" cy="274320"/>
          </a:xfrm>
          <a:prstGeom prst="rect">
            <a:avLst/>
          </a:prstGeom>
          <a:noFill/>
          <a:ln/>
        </p:spPr>
        <p:txBody>
          <a:bodyPr wrap="square" lIns="0" tIns="0" rIns="0" bIns="0" rtlCol="0" anchor="ctr"/>
          <a:lstStyle/>
          <a:p>
            <a:pPr marL="0" indent="0">
              <a:buNone/>
            </a:pPr>
            <a:r>
              <a:rPr lang="en-US" sz="1100" dirty="0">
                <a:solidFill>
                  <a:srgbClr val="FFBAB4"/>
                </a:solidFill>
                <a:latin typeface="Arial" pitchFamily="34" charset="0"/>
                <a:ea typeface="Arial" pitchFamily="34" charset="-122"/>
                <a:cs typeface="Arial" pitchFamily="34" charset="-120"/>
              </a:rPr>
              <a:t>Version: Final</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EB1700"/>
          </a:solidFill>
          <a:ln/>
        </p:spPr>
        <p:txBody>
          <a:bodyPr/>
          <a:lstStyle/>
          <a:p>
            <a:endParaRPr lang="en-US"/>
          </a:p>
        </p:txBody>
      </p:sp>
      <p:sp>
        <p:nvSpPr>
          <p:cNvPr id="3" name="Text 1"/>
          <p:cNvSpPr/>
          <p:nvPr/>
        </p:nvSpPr>
        <p:spPr>
          <a:xfrm>
            <a:off x="548640" y="137160"/>
            <a:ext cx="8229600" cy="274320"/>
          </a:xfrm>
          <a:prstGeom prst="rect">
            <a:avLst/>
          </a:prstGeom>
          <a:noFill/>
          <a:ln/>
        </p:spPr>
        <p:txBody>
          <a:bodyPr wrap="square" lIns="0" tIns="0" rIns="0" bIns="0" rtlCol="0" anchor="ctr"/>
          <a:lstStyle/>
          <a:p>
            <a:pPr marL="0" indent="0">
              <a:buNone/>
            </a:pPr>
            <a:r>
              <a:rPr lang="en-US" sz="1100" b="1" dirty="0">
                <a:solidFill>
                  <a:srgbClr val="EB1700"/>
                </a:solidFill>
                <a:latin typeface="Arial" pitchFamily="34" charset="0"/>
                <a:ea typeface="Arial" pitchFamily="34" charset="-122"/>
                <a:cs typeface="Arial" pitchFamily="34" charset="-120"/>
              </a:rPr>
              <a:t>JANSSEN BUSINESS TECHNOLOGY</a:t>
            </a:r>
            <a:endParaRPr lang="en-US" sz="1100" dirty="0"/>
          </a:p>
        </p:txBody>
      </p:sp>
      <p:sp>
        <p:nvSpPr>
          <p:cNvPr id="4" name="Text 2"/>
          <p:cNvSpPr/>
          <p:nvPr/>
        </p:nvSpPr>
        <p:spPr>
          <a:xfrm>
            <a:off x="548640" y="411480"/>
            <a:ext cx="8046720" cy="457200"/>
          </a:xfrm>
          <a:prstGeom prst="rect">
            <a:avLst/>
          </a:prstGeom>
          <a:noFill/>
          <a:ln/>
        </p:spPr>
        <p:txBody>
          <a:bodyPr wrap="square" lIns="0" tIns="0" rIns="0" bIns="0" rtlCol="0" anchor="ctr"/>
          <a:lstStyle/>
          <a:p>
            <a:pPr marL="0" indent="0">
              <a:buNone/>
            </a:pPr>
            <a:r>
              <a:rPr lang="en-US" sz="2200" b="1" dirty="0">
                <a:solidFill>
                  <a:srgbClr val="EB1700"/>
                </a:solidFill>
                <a:latin typeface="Arial" pitchFamily="34" charset="0"/>
                <a:ea typeface="Arial" pitchFamily="34" charset="-122"/>
                <a:cs typeface="Arial" pitchFamily="34" charset="-120"/>
              </a:rPr>
              <a:t>–  </a:t>
            </a:r>
            <a:r>
              <a:rPr lang="en-US" sz="2200" b="1" dirty="0">
                <a:solidFill>
                  <a:srgbClr val="212121"/>
                </a:solidFill>
                <a:latin typeface="Arial" pitchFamily="34" charset="0"/>
                <a:ea typeface="Arial" pitchFamily="34" charset="-122"/>
                <a:cs typeface="Arial" pitchFamily="34" charset="-120"/>
              </a:rPr>
              <a:t>Summary of Key Issues</a:t>
            </a:r>
            <a:endParaRPr lang="en-US" sz="2200" dirty="0"/>
          </a:p>
        </p:txBody>
      </p:sp>
      <p:sp>
        <p:nvSpPr>
          <p:cNvPr id="5" name="Text 3"/>
          <p:cNvSpPr/>
          <p:nvPr/>
        </p:nvSpPr>
        <p:spPr>
          <a:xfrm>
            <a:off x="548640" y="1051560"/>
            <a:ext cx="2377440" cy="320040"/>
          </a:xfrm>
          <a:prstGeom prst="rect">
            <a:avLst/>
          </a:prstGeom>
          <a:noFill/>
          <a:ln/>
        </p:spPr>
        <p:txBody>
          <a:bodyPr wrap="square" lIns="0" tIns="0" rIns="0" bIns="0" rtlCol="0" anchor="ctr"/>
          <a:lstStyle/>
          <a:p>
            <a:pPr marL="0" indent="0">
              <a:buNone/>
            </a:pPr>
            <a:r>
              <a:rPr lang="en-US" sz="1400" b="1" dirty="0">
                <a:solidFill>
                  <a:srgbClr val="EB1700"/>
                </a:solidFill>
                <a:latin typeface="Arial" pitchFamily="34" charset="0"/>
                <a:ea typeface="Arial" pitchFamily="34" charset="-122"/>
                <a:cs typeface="Arial" pitchFamily="34" charset="-120"/>
              </a:rPr>
              <a:t>Scope</a:t>
            </a:r>
            <a:endParaRPr lang="en-US" sz="1400" dirty="0"/>
          </a:p>
        </p:txBody>
      </p:sp>
      <p:sp>
        <p:nvSpPr>
          <p:cNvPr id="6" name="Text 4"/>
          <p:cNvSpPr/>
          <p:nvPr/>
        </p:nvSpPr>
        <p:spPr>
          <a:xfrm>
            <a:off x="548640" y="1417320"/>
            <a:ext cx="2377440" cy="1188720"/>
          </a:xfrm>
          <a:prstGeom prst="rect">
            <a:avLst/>
          </a:prstGeom>
          <a:noFill/>
          <a:ln/>
        </p:spPr>
        <p:txBody>
          <a:bodyPr wrap="square" lIns="0" tIns="0" rIns="0" bIns="0" rtlCol="0" anchor="t"/>
          <a:lstStyle/>
          <a:p>
            <a:pPr marL="342900" indent="-342900">
              <a:spcAft>
                <a:spcPts val="500"/>
              </a:spcAft>
              <a:buSzPct val="100000"/>
              <a:buChar char="•"/>
            </a:pPr>
            <a:r>
              <a:rPr lang="en-US" sz="1100" dirty="0">
                <a:solidFill>
                  <a:srgbClr val="555555"/>
                </a:solidFill>
                <a:latin typeface="Arial" pitchFamily="34" charset="0"/>
                <a:ea typeface="Arial" pitchFamily="34" charset="-122"/>
                <a:cs typeface="Arial" pitchFamily="34" charset="-120"/>
              </a:rPr>
              <a:t>3 components: BIND567, COMP042, COMP043</a:t>
            </a:r>
            <a:endParaRPr lang="en-US" sz="1100" dirty="0"/>
          </a:p>
          <a:p>
            <a:pPr marL="342900" indent="-342900">
              <a:spcAft>
                <a:spcPts val="500"/>
              </a:spcAft>
              <a:buSzPct val="100000"/>
              <a:buChar char="•"/>
            </a:pPr>
            <a:r>
              <a:rPr lang="en-US" sz="1100" dirty="0">
                <a:solidFill>
                  <a:srgbClr val="555555"/>
                </a:solidFill>
                <a:latin typeface="Arial" pitchFamily="34" charset="0"/>
                <a:ea typeface="Arial" pitchFamily="34" charset="-122"/>
                <a:cs typeface="Arial" pitchFamily="34" charset="-120"/>
              </a:rPr>
              <a:t>Cross-functional supply chain review</a:t>
            </a:r>
            <a:endParaRPr lang="en-US" sz="1100" dirty="0"/>
          </a:p>
          <a:p>
            <a:pPr marL="342900" indent="-342900">
              <a:spcAft>
                <a:spcPts val="500"/>
              </a:spcAft>
              <a:buSzPct val="100000"/>
              <a:buChar char="•"/>
            </a:pPr>
            <a:r>
              <a:rPr lang="en-US" sz="1100" dirty="0">
                <a:solidFill>
                  <a:srgbClr val="555555"/>
                </a:solidFill>
                <a:latin typeface="Arial" pitchFamily="34" charset="0"/>
                <a:ea typeface="Arial" pitchFamily="34" charset="-122"/>
                <a:cs typeface="Arial" pitchFamily="34" charset="-120"/>
              </a:rPr>
              <a:t>FDA compliance risk assessment</a:t>
            </a:r>
            <a:endParaRPr lang="en-US" sz="1100" dirty="0"/>
          </a:p>
        </p:txBody>
      </p:sp>
      <p:sp>
        <p:nvSpPr>
          <p:cNvPr id="7" name="Text 5"/>
          <p:cNvSpPr/>
          <p:nvPr/>
        </p:nvSpPr>
        <p:spPr>
          <a:xfrm>
            <a:off x="3291840" y="1051560"/>
            <a:ext cx="2377440" cy="320040"/>
          </a:xfrm>
          <a:prstGeom prst="rect">
            <a:avLst/>
          </a:prstGeom>
          <a:noFill/>
          <a:ln/>
        </p:spPr>
        <p:txBody>
          <a:bodyPr wrap="square" lIns="0" tIns="0" rIns="0" bIns="0" rtlCol="0" anchor="ctr"/>
          <a:lstStyle/>
          <a:p>
            <a:pPr marL="0" indent="0">
              <a:buNone/>
            </a:pPr>
            <a:r>
              <a:rPr lang="en-US" sz="1400" b="1" dirty="0">
                <a:solidFill>
                  <a:srgbClr val="003479"/>
                </a:solidFill>
                <a:latin typeface="Arial" pitchFamily="34" charset="0"/>
                <a:ea typeface="Arial" pitchFamily="34" charset="-122"/>
                <a:cs typeface="Arial" pitchFamily="34" charset="-120"/>
              </a:rPr>
              <a:t>Key Issues</a:t>
            </a:r>
            <a:endParaRPr lang="en-US" sz="1400" dirty="0"/>
          </a:p>
        </p:txBody>
      </p:sp>
      <p:sp>
        <p:nvSpPr>
          <p:cNvPr id="8" name="Text 6"/>
          <p:cNvSpPr/>
          <p:nvPr/>
        </p:nvSpPr>
        <p:spPr>
          <a:xfrm>
            <a:off x="3291840" y="1417320"/>
            <a:ext cx="2377440" cy="1188720"/>
          </a:xfrm>
          <a:prstGeom prst="rect">
            <a:avLst/>
          </a:prstGeom>
          <a:noFill/>
          <a:ln/>
        </p:spPr>
        <p:txBody>
          <a:bodyPr wrap="square" lIns="0" tIns="0" rIns="0" bIns="0" rtlCol="0" anchor="t"/>
          <a:lstStyle/>
          <a:p>
            <a:pPr marL="342900" indent="-342900">
              <a:spcAft>
                <a:spcPts val="500"/>
              </a:spcAft>
              <a:buSzPct val="100000"/>
              <a:buChar char="•"/>
            </a:pPr>
            <a:r>
              <a:rPr lang="en-US" sz="1100" dirty="0">
                <a:solidFill>
                  <a:srgbClr val="555555"/>
                </a:solidFill>
                <a:latin typeface="Arial" pitchFamily="34" charset="0"/>
                <a:ea typeface="Arial" pitchFamily="34" charset="-122"/>
                <a:cs typeface="Arial" pitchFamily="34" charset="-120"/>
              </a:rPr>
              <a:t>All components at Medium risk level</a:t>
            </a:r>
            <a:endParaRPr lang="en-US" sz="1100" dirty="0"/>
          </a:p>
          <a:p>
            <a:pPr marL="342900" indent="-342900">
              <a:spcAft>
                <a:spcPts val="500"/>
              </a:spcAft>
              <a:buSzPct val="100000"/>
              <a:buChar char="•"/>
            </a:pPr>
            <a:r>
              <a:rPr lang="en-US" sz="1100" dirty="0">
                <a:solidFill>
                  <a:srgbClr val="555555"/>
                </a:solidFill>
                <a:latin typeface="Arial" pitchFamily="34" charset="0"/>
                <a:ea typeface="Arial" pitchFamily="34" charset="-122"/>
                <a:cs typeface="Arial" pitchFamily="34" charset="-120"/>
              </a:rPr>
              <a:t>Lead time variance up to 26 days</a:t>
            </a:r>
            <a:endParaRPr lang="en-US" sz="1100" dirty="0"/>
          </a:p>
          <a:p>
            <a:pPr marL="342900" indent="-342900">
              <a:spcAft>
                <a:spcPts val="500"/>
              </a:spcAft>
              <a:buSzPct val="100000"/>
              <a:buChar char="•"/>
            </a:pPr>
            <a:r>
              <a:rPr lang="en-US" sz="1100" dirty="0">
                <a:solidFill>
                  <a:srgbClr val="555555"/>
                </a:solidFill>
                <a:latin typeface="Arial" pitchFamily="34" charset="0"/>
                <a:ea typeface="Arial" pitchFamily="34" charset="-122"/>
                <a:cs typeface="Arial" pitchFamily="34" charset="-120"/>
              </a:rPr>
              <a:t>Defect rate concerns for COMP043</a:t>
            </a:r>
            <a:endParaRPr lang="en-US" sz="1100" dirty="0"/>
          </a:p>
        </p:txBody>
      </p:sp>
      <p:sp>
        <p:nvSpPr>
          <p:cNvPr id="9" name="Text 7"/>
          <p:cNvSpPr/>
          <p:nvPr/>
        </p:nvSpPr>
        <p:spPr>
          <a:xfrm>
            <a:off x="6035040" y="1051560"/>
            <a:ext cx="2377440" cy="320040"/>
          </a:xfrm>
          <a:prstGeom prst="rect">
            <a:avLst/>
          </a:prstGeom>
          <a:noFill/>
          <a:ln/>
        </p:spPr>
        <p:txBody>
          <a:bodyPr wrap="square" lIns="0" tIns="0" rIns="0" bIns="0" rtlCol="0" anchor="ctr"/>
          <a:lstStyle/>
          <a:p>
            <a:pPr marL="0" indent="0">
              <a:buNone/>
            </a:pPr>
            <a:r>
              <a:rPr lang="en-US" sz="1400" b="1" dirty="0">
                <a:solidFill>
                  <a:srgbClr val="00A0DF"/>
                </a:solidFill>
                <a:latin typeface="Arial" pitchFamily="34" charset="0"/>
                <a:ea typeface="Arial" pitchFamily="34" charset="-122"/>
                <a:cs typeface="Arial" pitchFamily="34" charset="-120"/>
              </a:rPr>
              <a:t>Objective</a:t>
            </a:r>
            <a:endParaRPr lang="en-US" sz="1400" dirty="0"/>
          </a:p>
        </p:txBody>
      </p:sp>
      <p:sp>
        <p:nvSpPr>
          <p:cNvPr id="10" name="Text 8"/>
          <p:cNvSpPr/>
          <p:nvPr/>
        </p:nvSpPr>
        <p:spPr>
          <a:xfrm>
            <a:off x="6035040" y="1417320"/>
            <a:ext cx="2377440" cy="1188720"/>
          </a:xfrm>
          <a:prstGeom prst="rect">
            <a:avLst/>
          </a:prstGeom>
          <a:noFill/>
          <a:ln/>
        </p:spPr>
        <p:txBody>
          <a:bodyPr wrap="square" lIns="0" tIns="0" rIns="0" bIns="0" rtlCol="0" anchor="t"/>
          <a:lstStyle/>
          <a:p>
            <a:pPr marL="342900" indent="-342900">
              <a:spcAft>
                <a:spcPts val="500"/>
              </a:spcAft>
              <a:buSzPct val="100000"/>
              <a:buChar char="•"/>
            </a:pPr>
            <a:r>
              <a:rPr lang="en-US" sz="1100" dirty="0">
                <a:solidFill>
                  <a:srgbClr val="555555"/>
                </a:solidFill>
                <a:latin typeface="Arial" pitchFamily="34" charset="0"/>
                <a:ea typeface="Arial" pitchFamily="34" charset="-122"/>
                <a:cs typeface="Arial" pitchFamily="34" charset="-120"/>
              </a:rPr>
              <a:t>Reduce operational &amp; compliance exposure</a:t>
            </a:r>
            <a:endParaRPr lang="en-US" sz="1100" dirty="0"/>
          </a:p>
          <a:p>
            <a:pPr marL="342900" indent="-342900">
              <a:spcAft>
                <a:spcPts val="500"/>
              </a:spcAft>
              <a:buSzPct val="100000"/>
              <a:buChar char="•"/>
            </a:pPr>
            <a:r>
              <a:rPr lang="en-US" sz="1100" dirty="0">
                <a:solidFill>
                  <a:srgbClr val="555555"/>
                </a:solidFill>
                <a:latin typeface="Arial" pitchFamily="34" charset="0"/>
                <a:ea typeface="Arial" pitchFamily="34" charset="-122"/>
                <a:cs typeface="Arial" pitchFamily="34" charset="-120"/>
              </a:rPr>
              <a:t>Strengthen supplier governance</a:t>
            </a:r>
            <a:endParaRPr lang="en-US" sz="1100" dirty="0"/>
          </a:p>
          <a:p>
            <a:pPr marL="342900" indent="-342900">
              <a:spcAft>
                <a:spcPts val="500"/>
              </a:spcAft>
              <a:buSzPct val="100000"/>
              <a:buChar char="•"/>
            </a:pPr>
            <a:r>
              <a:rPr lang="en-US" sz="1100" dirty="0">
                <a:solidFill>
                  <a:srgbClr val="555555"/>
                </a:solidFill>
                <a:latin typeface="Arial" pitchFamily="34" charset="0"/>
                <a:ea typeface="Arial" pitchFamily="34" charset="-122"/>
                <a:cs typeface="Arial" pitchFamily="34" charset="-120"/>
              </a:rPr>
              <a:t>Implement preventive controls</a:t>
            </a:r>
            <a:endParaRPr lang="en-US" sz="1100" dirty="0"/>
          </a:p>
        </p:txBody>
      </p:sp>
      <p:sp>
        <p:nvSpPr>
          <p:cNvPr id="11" name="Shape 9"/>
          <p:cNvSpPr/>
          <p:nvPr/>
        </p:nvSpPr>
        <p:spPr>
          <a:xfrm>
            <a:off x="548640" y="2697480"/>
            <a:ext cx="8046720" cy="18288"/>
          </a:xfrm>
          <a:prstGeom prst="rect">
            <a:avLst/>
          </a:prstGeom>
          <a:solidFill>
            <a:srgbClr val="E0E0E0"/>
          </a:solidFill>
          <a:ln/>
        </p:spPr>
        <p:txBody>
          <a:bodyPr/>
          <a:lstStyle/>
          <a:p>
            <a:endParaRPr lang="en-US"/>
          </a:p>
        </p:txBody>
      </p:sp>
      <p:sp>
        <p:nvSpPr>
          <p:cNvPr id="12" name="Text 10"/>
          <p:cNvSpPr/>
          <p:nvPr/>
        </p:nvSpPr>
        <p:spPr>
          <a:xfrm>
            <a:off x="548640" y="2880360"/>
            <a:ext cx="2377440" cy="274320"/>
          </a:xfrm>
          <a:prstGeom prst="rect">
            <a:avLst/>
          </a:prstGeom>
          <a:noFill/>
          <a:ln/>
        </p:spPr>
        <p:txBody>
          <a:bodyPr wrap="square" lIns="0" tIns="0" rIns="0" bIns="0" rtlCol="0" anchor="ctr"/>
          <a:lstStyle/>
          <a:p>
            <a:pPr marL="0" indent="0">
              <a:buNone/>
            </a:pPr>
            <a:r>
              <a:rPr lang="en-US" sz="1300" b="1" dirty="0">
                <a:solidFill>
                  <a:srgbClr val="EB1700"/>
                </a:solidFill>
                <a:latin typeface="Arial" pitchFamily="34" charset="0"/>
                <a:ea typeface="Arial" pitchFamily="34" charset="-122"/>
                <a:cs typeface="Arial" pitchFamily="34" charset="-120"/>
              </a:rPr>
              <a:t>BIND567</a:t>
            </a:r>
            <a:endParaRPr lang="en-US" sz="1300" dirty="0"/>
          </a:p>
        </p:txBody>
      </p:sp>
      <p:sp>
        <p:nvSpPr>
          <p:cNvPr id="13" name="Text 11"/>
          <p:cNvSpPr/>
          <p:nvPr/>
        </p:nvSpPr>
        <p:spPr>
          <a:xfrm>
            <a:off x="548640" y="3154680"/>
            <a:ext cx="2377440" cy="228600"/>
          </a:xfrm>
          <a:prstGeom prst="rect">
            <a:avLst/>
          </a:prstGeom>
          <a:noFill/>
          <a:ln/>
        </p:spPr>
        <p:txBody>
          <a:bodyPr wrap="square" lIns="0" tIns="0" rIns="0" bIns="0" rtlCol="0" anchor="ctr"/>
          <a:lstStyle/>
          <a:p>
            <a:pPr marL="0" indent="0">
              <a:buNone/>
            </a:pPr>
            <a:r>
              <a:rPr lang="en-US" sz="1000" dirty="0">
                <a:solidFill>
                  <a:srgbClr val="555555"/>
                </a:solidFill>
                <a:latin typeface="Arial" pitchFamily="34" charset="0"/>
                <a:ea typeface="Arial" pitchFamily="34" charset="-122"/>
                <a:cs typeface="Arial" pitchFamily="34" charset="-120"/>
              </a:rPr>
              <a:t>EcoSupply  ·  64 days</a:t>
            </a:r>
            <a:endParaRPr lang="en-US" sz="1000" dirty="0"/>
          </a:p>
        </p:txBody>
      </p:sp>
      <p:sp>
        <p:nvSpPr>
          <p:cNvPr id="14" name="Text 12"/>
          <p:cNvSpPr/>
          <p:nvPr/>
        </p:nvSpPr>
        <p:spPr>
          <a:xfrm>
            <a:off x="548640" y="3429000"/>
            <a:ext cx="2377440" cy="1005840"/>
          </a:xfrm>
          <a:prstGeom prst="rect">
            <a:avLst/>
          </a:prstGeom>
          <a:noFill/>
          <a:ln/>
        </p:spPr>
        <p:txBody>
          <a:bodyPr wrap="square" lIns="0" tIns="0" rIns="0" bIns="0" rtlCol="0" anchor="t"/>
          <a:lstStyle/>
          <a:p>
            <a:pPr marL="0" indent="0">
              <a:buNone/>
            </a:pPr>
            <a:r>
              <a:rPr lang="en-US" sz="1000" dirty="0">
                <a:solidFill>
                  <a:srgbClr val="444444"/>
                </a:solidFill>
                <a:latin typeface="Arial" pitchFamily="34" charset="0"/>
                <a:ea typeface="Arial" pitchFamily="34" charset="-122"/>
                <a:cs typeface="Arial" pitchFamily="34" charset="-120"/>
              </a:rPr>
              <a:t>High lead time variance (26 days) despite strong supplier reliability. Long replenishment cycles reduce contingency flexibility.</a:t>
            </a:r>
            <a:endParaRPr lang="en-US" sz="1000" dirty="0"/>
          </a:p>
        </p:txBody>
      </p:sp>
      <p:sp>
        <p:nvSpPr>
          <p:cNvPr id="15" name="Text 13"/>
          <p:cNvSpPr/>
          <p:nvPr/>
        </p:nvSpPr>
        <p:spPr>
          <a:xfrm>
            <a:off x="3291840" y="2880360"/>
            <a:ext cx="2377440" cy="274320"/>
          </a:xfrm>
          <a:prstGeom prst="rect">
            <a:avLst/>
          </a:prstGeom>
          <a:noFill/>
          <a:ln/>
        </p:spPr>
        <p:txBody>
          <a:bodyPr wrap="square" lIns="0" tIns="0" rIns="0" bIns="0" rtlCol="0" anchor="ctr"/>
          <a:lstStyle/>
          <a:p>
            <a:pPr marL="0" indent="0">
              <a:buNone/>
            </a:pPr>
            <a:r>
              <a:rPr lang="en-US" sz="1300" b="1" dirty="0">
                <a:solidFill>
                  <a:srgbClr val="EB1700"/>
                </a:solidFill>
                <a:latin typeface="Arial" pitchFamily="34" charset="0"/>
                <a:ea typeface="Arial" pitchFamily="34" charset="-122"/>
                <a:cs typeface="Arial" pitchFamily="34" charset="-120"/>
              </a:rPr>
              <a:t>COMP042</a:t>
            </a:r>
            <a:endParaRPr lang="en-US" sz="1300" dirty="0"/>
          </a:p>
        </p:txBody>
      </p:sp>
      <p:sp>
        <p:nvSpPr>
          <p:cNvPr id="16" name="Text 14"/>
          <p:cNvSpPr/>
          <p:nvPr/>
        </p:nvSpPr>
        <p:spPr>
          <a:xfrm>
            <a:off x="3291840" y="3154680"/>
            <a:ext cx="2377440" cy="228600"/>
          </a:xfrm>
          <a:prstGeom prst="rect">
            <a:avLst/>
          </a:prstGeom>
          <a:noFill/>
          <a:ln/>
        </p:spPr>
        <p:txBody>
          <a:bodyPr wrap="square" lIns="0" tIns="0" rIns="0" bIns="0" rtlCol="0" anchor="ctr"/>
          <a:lstStyle/>
          <a:p>
            <a:pPr marL="0" indent="0">
              <a:buNone/>
            </a:pPr>
            <a:r>
              <a:rPr lang="en-US" sz="1000" dirty="0">
                <a:solidFill>
                  <a:srgbClr val="555555"/>
                </a:solidFill>
                <a:latin typeface="Arial" pitchFamily="34" charset="0"/>
                <a:ea typeface="Arial" pitchFamily="34" charset="-122"/>
                <a:cs typeface="Arial" pitchFamily="34" charset="-120"/>
              </a:rPr>
              <a:t>PrimeLogistics  ·  13 days</a:t>
            </a:r>
            <a:endParaRPr lang="en-US" sz="1000" dirty="0"/>
          </a:p>
        </p:txBody>
      </p:sp>
      <p:sp>
        <p:nvSpPr>
          <p:cNvPr id="17" name="Text 15"/>
          <p:cNvSpPr/>
          <p:nvPr/>
        </p:nvSpPr>
        <p:spPr>
          <a:xfrm>
            <a:off x="3291840" y="3429000"/>
            <a:ext cx="2377440" cy="1005840"/>
          </a:xfrm>
          <a:prstGeom prst="rect">
            <a:avLst/>
          </a:prstGeom>
          <a:noFill/>
          <a:ln/>
        </p:spPr>
        <p:txBody>
          <a:bodyPr wrap="square" lIns="0" tIns="0" rIns="0" bIns="0" rtlCol="0" anchor="t"/>
          <a:lstStyle/>
          <a:p>
            <a:pPr marL="0" indent="0">
              <a:buNone/>
            </a:pPr>
            <a:r>
              <a:rPr lang="en-US" sz="1000" dirty="0">
                <a:solidFill>
                  <a:srgbClr val="444444"/>
                </a:solidFill>
                <a:latin typeface="Arial" pitchFamily="34" charset="0"/>
                <a:ea typeface="Arial" pitchFamily="34" charset="-122"/>
                <a:cs typeface="Arial" pitchFamily="34" charset="-120"/>
              </a:rPr>
              <a:t>Lower supplier reliability with lead time variance, risking cost escalation through expedited shipping.</a:t>
            </a:r>
            <a:endParaRPr lang="en-US" sz="1000" dirty="0"/>
          </a:p>
        </p:txBody>
      </p:sp>
      <p:sp>
        <p:nvSpPr>
          <p:cNvPr id="18" name="Text 16"/>
          <p:cNvSpPr/>
          <p:nvPr/>
        </p:nvSpPr>
        <p:spPr>
          <a:xfrm>
            <a:off x="6035040" y="2880360"/>
            <a:ext cx="2377440" cy="274320"/>
          </a:xfrm>
          <a:prstGeom prst="rect">
            <a:avLst/>
          </a:prstGeom>
          <a:noFill/>
          <a:ln/>
        </p:spPr>
        <p:txBody>
          <a:bodyPr wrap="square" lIns="0" tIns="0" rIns="0" bIns="0" rtlCol="0" anchor="ctr"/>
          <a:lstStyle/>
          <a:p>
            <a:pPr marL="0" indent="0">
              <a:buNone/>
            </a:pPr>
            <a:r>
              <a:rPr lang="en-US" sz="1300" b="1" dirty="0">
                <a:solidFill>
                  <a:srgbClr val="EB1700"/>
                </a:solidFill>
                <a:latin typeface="Arial" pitchFamily="34" charset="0"/>
                <a:ea typeface="Arial" pitchFamily="34" charset="-122"/>
                <a:cs typeface="Arial" pitchFamily="34" charset="-120"/>
              </a:rPr>
              <a:t>COMP043</a:t>
            </a:r>
            <a:endParaRPr lang="en-US" sz="1300" dirty="0"/>
          </a:p>
        </p:txBody>
      </p:sp>
      <p:sp>
        <p:nvSpPr>
          <p:cNvPr id="19" name="Text 17"/>
          <p:cNvSpPr/>
          <p:nvPr/>
        </p:nvSpPr>
        <p:spPr>
          <a:xfrm>
            <a:off x="6035040" y="3154680"/>
            <a:ext cx="2377440" cy="228600"/>
          </a:xfrm>
          <a:prstGeom prst="rect">
            <a:avLst/>
          </a:prstGeom>
          <a:noFill/>
          <a:ln/>
        </p:spPr>
        <p:txBody>
          <a:bodyPr wrap="square" lIns="0" tIns="0" rIns="0" bIns="0" rtlCol="0" anchor="ctr"/>
          <a:lstStyle/>
          <a:p>
            <a:pPr marL="0" indent="0">
              <a:buNone/>
            </a:pPr>
            <a:r>
              <a:rPr lang="en-US" sz="1000" dirty="0">
                <a:solidFill>
                  <a:srgbClr val="555555"/>
                </a:solidFill>
                <a:latin typeface="Arial" pitchFamily="34" charset="0"/>
                <a:ea typeface="Arial" pitchFamily="34" charset="-122"/>
                <a:cs typeface="Arial" pitchFamily="34" charset="-120"/>
              </a:rPr>
              <a:t>NextGen Pharma  ·  8 days</a:t>
            </a:r>
            <a:endParaRPr lang="en-US" sz="1000" dirty="0"/>
          </a:p>
        </p:txBody>
      </p:sp>
      <p:sp>
        <p:nvSpPr>
          <p:cNvPr id="20" name="Text 18"/>
          <p:cNvSpPr/>
          <p:nvPr/>
        </p:nvSpPr>
        <p:spPr>
          <a:xfrm>
            <a:off x="6035040" y="3429000"/>
            <a:ext cx="2377440" cy="1005840"/>
          </a:xfrm>
          <a:prstGeom prst="rect">
            <a:avLst/>
          </a:prstGeom>
          <a:noFill/>
          <a:ln/>
        </p:spPr>
        <p:txBody>
          <a:bodyPr wrap="square" lIns="0" tIns="0" rIns="0" bIns="0" rtlCol="0" anchor="t"/>
          <a:lstStyle/>
          <a:p>
            <a:pPr marL="0" indent="0">
              <a:buNone/>
            </a:pPr>
            <a:r>
              <a:rPr lang="en-US" sz="1000" dirty="0">
                <a:solidFill>
                  <a:srgbClr val="444444"/>
                </a:solidFill>
                <a:latin typeface="Arial" pitchFamily="34" charset="0"/>
                <a:ea typeface="Arial" pitchFamily="34" charset="-122"/>
                <a:cs typeface="Arial" pitchFamily="34" charset="-120"/>
              </a:rPr>
              <a:t>Relatively high defect rate with weaker forecast accuracy. Risk of inventory imbalance and compliance pressure.</a:t>
            </a:r>
            <a:endParaRPr lang="en-US" sz="1000" dirty="0"/>
          </a:p>
        </p:txBody>
      </p:sp>
      <p:sp>
        <p:nvSpPr>
          <p:cNvPr id="21" name="Text 19"/>
          <p:cNvSpPr/>
          <p:nvPr/>
        </p:nvSpPr>
        <p:spPr>
          <a:xfrm>
            <a:off x="548640" y="4617720"/>
            <a:ext cx="8046720" cy="320040"/>
          </a:xfrm>
          <a:prstGeom prst="rect">
            <a:avLst/>
          </a:prstGeom>
          <a:noFill/>
          <a:ln/>
        </p:spPr>
        <p:txBody>
          <a:bodyPr wrap="square" lIns="0" tIns="0" rIns="0" bIns="0" rtlCol="0" anchor="ctr"/>
          <a:lstStyle/>
          <a:p>
            <a:pPr marL="0" indent="0">
              <a:buNone/>
            </a:pPr>
            <a:r>
              <a:rPr lang="en-US" sz="1000" b="1" dirty="0">
                <a:solidFill>
                  <a:srgbClr val="EB1700"/>
                </a:solidFill>
                <a:latin typeface="Arial" pitchFamily="34" charset="0"/>
                <a:ea typeface="Arial" pitchFamily="34" charset="-122"/>
                <a:cs typeface="Arial" pitchFamily="34" charset="-120"/>
              </a:rPr>
              <a:t>FDA Compliance: </a:t>
            </a:r>
            <a:r>
              <a:rPr lang="en-US" sz="1000" dirty="0">
                <a:solidFill>
                  <a:srgbClr val="555555"/>
                </a:solidFill>
                <a:latin typeface="Arial" pitchFamily="34" charset="0"/>
                <a:ea typeface="Arial" pitchFamily="34" charset="-122"/>
                <a:cs typeface="Arial" pitchFamily="34" charset="-120"/>
              </a:rPr>
              <a:t>All components flagged for compliance monitoring. Late deliveries and supplier changes require documented review.</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EB1700"/>
          </a:solidFill>
          <a:ln/>
        </p:spPr>
        <p:txBody>
          <a:bodyPr/>
          <a:lstStyle/>
          <a:p>
            <a:endParaRPr lang="en-US"/>
          </a:p>
        </p:txBody>
      </p:sp>
      <p:sp>
        <p:nvSpPr>
          <p:cNvPr id="3" name="Text 1"/>
          <p:cNvSpPr/>
          <p:nvPr/>
        </p:nvSpPr>
        <p:spPr>
          <a:xfrm>
            <a:off x="548640" y="137160"/>
            <a:ext cx="8229600" cy="274320"/>
          </a:xfrm>
          <a:prstGeom prst="rect">
            <a:avLst/>
          </a:prstGeom>
          <a:noFill/>
          <a:ln/>
        </p:spPr>
        <p:txBody>
          <a:bodyPr wrap="square" lIns="0" tIns="0" rIns="0" bIns="0" rtlCol="0" anchor="ctr"/>
          <a:lstStyle/>
          <a:p>
            <a:pPr marL="0" indent="0">
              <a:buNone/>
            </a:pPr>
            <a:r>
              <a:rPr lang="en-US" sz="1100" b="1" dirty="0">
                <a:solidFill>
                  <a:srgbClr val="EB1700"/>
                </a:solidFill>
                <a:latin typeface="Arial" pitchFamily="34" charset="0"/>
                <a:ea typeface="Arial" pitchFamily="34" charset="-122"/>
                <a:cs typeface="Arial" pitchFamily="34" charset="-120"/>
              </a:rPr>
              <a:t>JANSSEN BUSINESS TECHNOLOGY</a:t>
            </a:r>
            <a:endParaRPr lang="en-US" sz="1100" dirty="0"/>
          </a:p>
        </p:txBody>
      </p:sp>
      <p:sp>
        <p:nvSpPr>
          <p:cNvPr id="4" name="Text 2"/>
          <p:cNvSpPr/>
          <p:nvPr/>
        </p:nvSpPr>
        <p:spPr>
          <a:xfrm>
            <a:off x="548640" y="411480"/>
            <a:ext cx="8046720" cy="457200"/>
          </a:xfrm>
          <a:prstGeom prst="rect">
            <a:avLst/>
          </a:prstGeom>
          <a:noFill/>
          <a:ln/>
        </p:spPr>
        <p:txBody>
          <a:bodyPr wrap="square" lIns="0" tIns="0" rIns="0" bIns="0" rtlCol="0" anchor="ctr"/>
          <a:lstStyle/>
          <a:p>
            <a:pPr marL="0" indent="0">
              <a:buNone/>
            </a:pPr>
            <a:r>
              <a:rPr lang="en-US" sz="2200" b="1" dirty="0">
                <a:solidFill>
                  <a:srgbClr val="EB1700"/>
                </a:solidFill>
                <a:latin typeface="Arial" pitchFamily="34" charset="0"/>
                <a:ea typeface="Arial" pitchFamily="34" charset="-122"/>
                <a:cs typeface="Arial" pitchFamily="34" charset="-120"/>
              </a:rPr>
              <a:t>–  </a:t>
            </a:r>
            <a:r>
              <a:rPr lang="en-US" sz="2200" b="1" dirty="0">
                <a:solidFill>
                  <a:srgbClr val="212121"/>
                </a:solidFill>
                <a:latin typeface="Arial" pitchFamily="34" charset="0"/>
                <a:ea typeface="Arial" pitchFamily="34" charset="-122"/>
                <a:cs typeface="Arial" pitchFamily="34" charset="-120"/>
              </a:rPr>
              <a:t>Data Insights from Excel Analysis</a:t>
            </a:r>
            <a:endParaRPr lang="en-US" sz="2200" dirty="0"/>
          </a:p>
        </p:txBody>
      </p:sp>
      <p:sp>
        <p:nvSpPr>
          <p:cNvPr id="5" name="Text 3"/>
          <p:cNvSpPr/>
          <p:nvPr/>
        </p:nvSpPr>
        <p:spPr>
          <a:xfrm>
            <a:off x="548640" y="1051560"/>
            <a:ext cx="1828800" cy="502920"/>
          </a:xfrm>
          <a:prstGeom prst="rect">
            <a:avLst/>
          </a:prstGeom>
          <a:noFill/>
          <a:ln/>
        </p:spPr>
        <p:txBody>
          <a:bodyPr wrap="square" lIns="0" tIns="0" rIns="0" bIns="0" rtlCol="0" anchor="ctr"/>
          <a:lstStyle/>
          <a:p>
            <a:pPr marL="0" indent="0" algn="ctr">
              <a:buNone/>
            </a:pPr>
            <a:r>
              <a:rPr lang="en-US" sz="3000" b="1" dirty="0">
                <a:solidFill>
                  <a:srgbClr val="EB1700"/>
                </a:solidFill>
                <a:latin typeface="Arial" pitchFamily="34" charset="0"/>
                <a:ea typeface="Arial" pitchFamily="34" charset="-122"/>
                <a:cs typeface="Arial" pitchFamily="34" charset="-120"/>
              </a:rPr>
              <a:t>95%</a:t>
            </a:r>
            <a:endParaRPr lang="en-US" sz="3000" dirty="0"/>
          </a:p>
        </p:txBody>
      </p:sp>
      <p:sp>
        <p:nvSpPr>
          <p:cNvPr id="6" name="Text 4"/>
          <p:cNvSpPr/>
          <p:nvPr/>
        </p:nvSpPr>
        <p:spPr>
          <a:xfrm>
            <a:off x="548640" y="1554480"/>
            <a:ext cx="1828800" cy="201168"/>
          </a:xfrm>
          <a:prstGeom prst="rect">
            <a:avLst/>
          </a:prstGeom>
          <a:noFill/>
          <a:ln/>
        </p:spPr>
        <p:txBody>
          <a:bodyPr wrap="square" lIns="0" tIns="0" rIns="0" bIns="0" rtlCol="0" anchor="ctr"/>
          <a:lstStyle/>
          <a:p>
            <a:pPr marL="0" indent="0" algn="ctr">
              <a:buNone/>
            </a:pPr>
            <a:r>
              <a:rPr lang="en-US" sz="1000" dirty="0">
                <a:solidFill>
                  <a:srgbClr val="555555"/>
                </a:solidFill>
                <a:latin typeface="Arial" pitchFamily="34" charset="0"/>
                <a:ea typeface="Arial" pitchFamily="34" charset="-122"/>
                <a:cs typeface="Arial" pitchFamily="34" charset="-120"/>
              </a:rPr>
              <a:t>On-Time Delivery</a:t>
            </a:r>
            <a:endParaRPr lang="en-US" sz="1000" dirty="0"/>
          </a:p>
        </p:txBody>
      </p:sp>
      <p:sp>
        <p:nvSpPr>
          <p:cNvPr id="7" name="Text 5"/>
          <p:cNvSpPr/>
          <p:nvPr/>
        </p:nvSpPr>
        <p:spPr>
          <a:xfrm>
            <a:off x="548640" y="1755648"/>
            <a:ext cx="1828800" cy="201168"/>
          </a:xfrm>
          <a:prstGeom prst="rect">
            <a:avLst/>
          </a:prstGeom>
          <a:noFill/>
          <a:ln/>
        </p:spPr>
        <p:txBody>
          <a:bodyPr wrap="square" lIns="0" tIns="0" rIns="0" bIns="0" rtlCol="0" anchor="ctr"/>
          <a:lstStyle/>
          <a:p>
            <a:pPr marL="0" indent="0" algn="ctr">
              <a:buNone/>
            </a:pPr>
            <a:r>
              <a:rPr lang="en-US" sz="1000" dirty="0">
                <a:solidFill>
                  <a:srgbClr val="555555"/>
                </a:solidFill>
                <a:latin typeface="Arial" pitchFamily="34" charset="0"/>
                <a:ea typeface="Arial" pitchFamily="34" charset="-122"/>
                <a:cs typeface="Arial" pitchFamily="34" charset="-120"/>
              </a:rPr>
              <a:t>Target</a:t>
            </a:r>
            <a:endParaRPr lang="en-US" sz="1000" dirty="0"/>
          </a:p>
        </p:txBody>
      </p:sp>
      <p:sp>
        <p:nvSpPr>
          <p:cNvPr id="8" name="Text 6"/>
          <p:cNvSpPr/>
          <p:nvPr/>
        </p:nvSpPr>
        <p:spPr>
          <a:xfrm>
            <a:off x="2624328" y="1051560"/>
            <a:ext cx="1828800" cy="502920"/>
          </a:xfrm>
          <a:prstGeom prst="rect">
            <a:avLst/>
          </a:prstGeom>
          <a:noFill/>
          <a:ln/>
        </p:spPr>
        <p:txBody>
          <a:bodyPr wrap="square" lIns="0" tIns="0" rIns="0" bIns="0" rtlCol="0" anchor="ctr"/>
          <a:lstStyle/>
          <a:p>
            <a:pPr marL="0" indent="0" algn="ctr">
              <a:buNone/>
            </a:pPr>
            <a:r>
              <a:rPr lang="en-US" sz="3000" b="1" dirty="0">
                <a:solidFill>
                  <a:srgbClr val="003479"/>
                </a:solidFill>
                <a:latin typeface="Arial" pitchFamily="34" charset="0"/>
                <a:ea typeface="Arial" pitchFamily="34" charset="-122"/>
                <a:cs typeface="Arial" pitchFamily="34" charset="-120"/>
              </a:rPr>
              <a:t>&lt;2%</a:t>
            </a:r>
            <a:endParaRPr lang="en-US" sz="3000" dirty="0"/>
          </a:p>
        </p:txBody>
      </p:sp>
      <p:sp>
        <p:nvSpPr>
          <p:cNvPr id="9" name="Text 7"/>
          <p:cNvSpPr/>
          <p:nvPr/>
        </p:nvSpPr>
        <p:spPr>
          <a:xfrm>
            <a:off x="2624328" y="1554480"/>
            <a:ext cx="1828800" cy="201168"/>
          </a:xfrm>
          <a:prstGeom prst="rect">
            <a:avLst/>
          </a:prstGeom>
          <a:noFill/>
          <a:ln/>
        </p:spPr>
        <p:txBody>
          <a:bodyPr wrap="square" lIns="0" tIns="0" rIns="0" bIns="0" rtlCol="0" anchor="ctr"/>
          <a:lstStyle/>
          <a:p>
            <a:pPr marL="0" indent="0" algn="ctr">
              <a:buNone/>
            </a:pPr>
            <a:r>
              <a:rPr lang="en-US" sz="1000" dirty="0">
                <a:solidFill>
                  <a:srgbClr val="555555"/>
                </a:solidFill>
                <a:latin typeface="Arial" pitchFamily="34" charset="0"/>
                <a:ea typeface="Arial" pitchFamily="34" charset="-122"/>
                <a:cs typeface="Arial" pitchFamily="34" charset="-120"/>
              </a:rPr>
              <a:t>Defect Rate</a:t>
            </a:r>
            <a:endParaRPr lang="en-US" sz="1000" dirty="0"/>
          </a:p>
        </p:txBody>
      </p:sp>
      <p:sp>
        <p:nvSpPr>
          <p:cNvPr id="10" name="Text 8"/>
          <p:cNvSpPr/>
          <p:nvPr/>
        </p:nvSpPr>
        <p:spPr>
          <a:xfrm>
            <a:off x="2624328" y="1755648"/>
            <a:ext cx="1828800" cy="201168"/>
          </a:xfrm>
          <a:prstGeom prst="rect">
            <a:avLst/>
          </a:prstGeom>
          <a:noFill/>
          <a:ln/>
        </p:spPr>
        <p:txBody>
          <a:bodyPr wrap="square" lIns="0" tIns="0" rIns="0" bIns="0" rtlCol="0" anchor="ctr"/>
          <a:lstStyle/>
          <a:p>
            <a:pPr marL="0" indent="0" algn="ctr">
              <a:buNone/>
            </a:pPr>
            <a:r>
              <a:rPr lang="en-US" sz="1000" dirty="0">
                <a:solidFill>
                  <a:srgbClr val="555555"/>
                </a:solidFill>
                <a:latin typeface="Arial" pitchFamily="34" charset="0"/>
                <a:ea typeface="Arial" pitchFamily="34" charset="-122"/>
                <a:cs typeface="Arial" pitchFamily="34" charset="-120"/>
              </a:rPr>
              <a:t>Threshold</a:t>
            </a:r>
            <a:endParaRPr lang="en-US" sz="1000" dirty="0"/>
          </a:p>
        </p:txBody>
      </p:sp>
      <p:sp>
        <p:nvSpPr>
          <p:cNvPr id="11" name="Text 9"/>
          <p:cNvSpPr/>
          <p:nvPr/>
        </p:nvSpPr>
        <p:spPr>
          <a:xfrm>
            <a:off x="4700016" y="1051560"/>
            <a:ext cx="1828800" cy="502920"/>
          </a:xfrm>
          <a:prstGeom prst="rect">
            <a:avLst/>
          </a:prstGeom>
          <a:noFill/>
          <a:ln/>
        </p:spPr>
        <p:txBody>
          <a:bodyPr wrap="square" lIns="0" tIns="0" rIns="0" bIns="0" rtlCol="0" anchor="ctr"/>
          <a:lstStyle/>
          <a:p>
            <a:pPr marL="0" indent="0" algn="ctr">
              <a:buNone/>
            </a:pPr>
            <a:r>
              <a:rPr lang="en-US" sz="3000" b="1" dirty="0">
                <a:solidFill>
                  <a:srgbClr val="00A0DF"/>
                </a:solidFill>
                <a:latin typeface="Arial" pitchFamily="34" charset="0"/>
                <a:ea typeface="Arial" pitchFamily="34" charset="-122"/>
                <a:cs typeface="Arial" pitchFamily="34" charset="-120"/>
              </a:rPr>
              <a:t>3</a:t>
            </a:r>
            <a:endParaRPr lang="en-US" sz="3000" dirty="0"/>
          </a:p>
        </p:txBody>
      </p:sp>
      <p:sp>
        <p:nvSpPr>
          <p:cNvPr id="12" name="Text 10"/>
          <p:cNvSpPr/>
          <p:nvPr/>
        </p:nvSpPr>
        <p:spPr>
          <a:xfrm>
            <a:off x="4700016" y="1554480"/>
            <a:ext cx="1828800" cy="201168"/>
          </a:xfrm>
          <a:prstGeom prst="rect">
            <a:avLst/>
          </a:prstGeom>
          <a:noFill/>
          <a:ln/>
        </p:spPr>
        <p:txBody>
          <a:bodyPr wrap="square" lIns="0" tIns="0" rIns="0" bIns="0" rtlCol="0" anchor="ctr"/>
          <a:lstStyle/>
          <a:p>
            <a:pPr marL="0" indent="0" algn="ctr">
              <a:buNone/>
            </a:pPr>
            <a:r>
              <a:rPr lang="en-US" sz="1000" dirty="0">
                <a:solidFill>
                  <a:srgbClr val="555555"/>
                </a:solidFill>
                <a:latin typeface="Arial" pitchFamily="34" charset="0"/>
                <a:ea typeface="Arial" pitchFamily="34" charset="-122"/>
                <a:cs typeface="Arial" pitchFamily="34" charset="-120"/>
              </a:rPr>
              <a:t>Components</a:t>
            </a:r>
            <a:endParaRPr lang="en-US" sz="1000" dirty="0"/>
          </a:p>
        </p:txBody>
      </p:sp>
      <p:sp>
        <p:nvSpPr>
          <p:cNvPr id="13" name="Text 11"/>
          <p:cNvSpPr/>
          <p:nvPr/>
        </p:nvSpPr>
        <p:spPr>
          <a:xfrm>
            <a:off x="4700016" y="1755648"/>
            <a:ext cx="1828800" cy="201168"/>
          </a:xfrm>
          <a:prstGeom prst="rect">
            <a:avLst/>
          </a:prstGeom>
          <a:noFill/>
          <a:ln/>
        </p:spPr>
        <p:txBody>
          <a:bodyPr wrap="square" lIns="0" tIns="0" rIns="0" bIns="0" rtlCol="0" anchor="ctr"/>
          <a:lstStyle/>
          <a:p>
            <a:pPr marL="0" indent="0" algn="ctr">
              <a:buNone/>
            </a:pPr>
            <a:r>
              <a:rPr lang="en-US" sz="1000" dirty="0">
                <a:solidFill>
                  <a:srgbClr val="555555"/>
                </a:solidFill>
                <a:latin typeface="Arial" pitchFamily="34" charset="0"/>
                <a:ea typeface="Arial" pitchFamily="34" charset="-122"/>
                <a:cs typeface="Arial" pitchFamily="34" charset="-120"/>
              </a:rPr>
              <a:t>Flagged</a:t>
            </a:r>
            <a:endParaRPr lang="en-US" sz="1000" dirty="0"/>
          </a:p>
        </p:txBody>
      </p:sp>
      <p:sp>
        <p:nvSpPr>
          <p:cNvPr id="14" name="Text 12"/>
          <p:cNvSpPr/>
          <p:nvPr/>
        </p:nvSpPr>
        <p:spPr>
          <a:xfrm>
            <a:off x="6775704" y="1051560"/>
            <a:ext cx="1828800" cy="502920"/>
          </a:xfrm>
          <a:prstGeom prst="rect">
            <a:avLst/>
          </a:prstGeom>
          <a:noFill/>
          <a:ln/>
        </p:spPr>
        <p:txBody>
          <a:bodyPr wrap="square" lIns="0" tIns="0" rIns="0" bIns="0" rtlCol="0" anchor="ctr"/>
          <a:lstStyle/>
          <a:p>
            <a:pPr marL="0" indent="0" algn="ctr">
              <a:buNone/>
            </a:pPr>
            <a:r>
              <a:rPr lang="en-US" sz="3000" b="1" dirty="0">
                <a:solidFill>
                  <a:srgbClr val="EB1700"/>
                </a:solidFill>
                <a:latin typeface="Arial" pitchFamily="34" charset="0"/>
                <a:ea typeface="Arial" pitchFamily="34" charset="-122"/>
                <a:cs typeface="Arial" pitchFamily="34" charset="-120"/>
              </a:rPr>
              <a:t>MED</a:t>
            </a:r>
            <a:endParaRPr lang="en-US" sz="3000" dirty="0"/>
          </a:p>
        </p:txBody>
      </p:sp>
      <p:sp>
        <p:nvSpPr>
          <p:cNvPr id="15" name="Text 13"/>
          <p:cNvSpPr/>
          <p:nvPr/>
        </p:nvSpPr>
        <p:spPr>
          <a:xfrm>
            <a:off x="6775704" y="1554480"/>
            <a:ext cx="1828800" cy="201168"/>
          </a:xfrm>
          <a:prstGeom prst="rect">
            <a:avLst/>
          </a:prstGeom>
          <a:noFill/>
          <a:ln/>
        </p:spPr>
        <p:txBody>
          <a:bodyPr wrap="square" lIns="0" tIns="0" rIns="0" bIns="0" rtlCol="0" anchor="ctr"/>
          <a:lstStyle/>
          <a:p>
            <a:pPr marL="0" indent="0" algn="ctr">
              <a:buNone/>
            </a:pPr>
            <a:r>
              <a:rPr lang="en-US" sz="1000" dirty="0">
                <a:solidFill>
                  <a:srgbClr val="555555"/>
                </a:solidFill>
                <a:latin typeface="Arial" pitchFamily="34" charset="0"/>
                <a:ea typeface="Arial" pitchFamily="34" charset="-122"/>
                <a:cs typeface="Arial" pitchFamily="34" charset="-120"/>
              </a:rPr>
              <a:t>Risk Level</a:t>
            </a:r>
            <a:endParaRPr lang="en-US" sz="1000" dirty="0"/>
          </a:p>
        </p:txBody>
      </p:sp>
      <p:sp>
        <p:nvSpPr>
          <p:cNvPr id="16" name="Text 14"/>
          <p:cNvSpPr/>
          <p:nvPr/>
        </p:nvSpPr>
        <p:spPr>
          <a:xfrm>
            <a:off x="6775704" y="1755648"/>
            <a:ext cx="1828800" cy="201168"/>
          </a:xfrm>
          <a:prstGeom prst="rect">
            <a:avLst/>
          </a:prstGeom>
          <a:noFill/>
          <a:ln/>
        </p:spPr>
        <p:txBody>
          <a:bodyPr wrap="square" lIns="0" tIns="0" rIns="0" bIns="0" rtlCol="0" anchor="ctr"/>
          <a:lstStyle/>
          <a:p>
            <a:pPr marL="0" indent="0" algn="ctr">
              <a:buNone/>
            </a:pPr>
            <a:r>
              <a:rPr lang="en-US" sz="1000" dirty="0">
                <a:solidFill>
                  <a:srgbClr val="555555"/>
                </a:solidFill>
                <a:latin typeface="Arial" pitchFamily="34" charset="0"/>
                <a:ea typeface="Arial" pitchFamily="34" charset="-122"/>
                <a:cs typeface="Arial" pitchFamily="34" charset="-120"/>
              </a:rPr>
              <a:t>All Components</a:t>
            </a:r>
            <a:endParaRPr lang="en-US" sz="1000" dirty="0"/>
          </a:p>
        </p:txBody>
      </p:sp>
      <p:sp>
        <p:nvSpPr>
          <p:cNvPr id="17" name="Text 15"/>
          <p:cNvSpPr/>
          <p:nvPr/>
        </p:nvSpPr>
        <p:spPr>
          <a:xfrm>
            <a:off x="548640" y="2148840"/>
            <a:ext cx="3657600" cy="274320"/>
          </a:xfrm>
          <a:prstGeom prst="rect">
            <a:avLst/>
          </a:prstGeom>
          <a:noFill/>
          <a:ln/>
        </p:spPr>
        <p:txBody>
          <a:bodyPr wrap="square" lIns="0" tIns="0" rIns="0" bIns="0" rtlCol="0" anchor="ctr"/>
          <a:lstStyle/>
          <a:p>
            <a:pPr marL="0" indent="0">
              <a:buNone/>
            </a:pPr>
            <a:r>
              <a:rPr lang="en-US" sz="1200" b="1" dirty="0">
                <a:solidFill>
                  <a:srgbClr val="EB1700"/>
                </a:solidFill>
                <a:latin typeface="Arial" pitchFamily="34" charset="0"/>
                <a:ea typeface="Arial" pitchFamily="34" charset="-122"/>
                <a:cs typeface="Arial" pitchFamily="34" charset="-120"/>
              </a:rPr>
              <a:t>Delivery Timeline by Component (Days)</a:t>
            </a:r>
            <a:endParaRPr lang="en-US" sz="1200" dirty="0"/>
          </a:p>
        </p:txBody>
      </p:sp>
      <p:sp>
        <p:nvSpPr>
          <p:cNvPr id="18" name="Text 16"/>
          <p:cNvSpPr/>
          <p:nvPr/>
        </p:nvSpPr>
        <p:spPr>
          <a:xfrm>
            <a:off x="4937760" y="2148840"/>
            <a:ext cx="3657600" cy="274320"/>
          </a:xfrm>
          <a:prstGeom prst="rect">
            <a:avLst/>
          </a:prstGeom>
          <a:noFill/>
          <a:ln/>
        </p:spPr>
        <p:txBody>
          <a:bodyPr wrap="square" lIns="0" tIns="0" rIns="0" bIns="0" rtlCol="0" anchor="ctr"/>
          <a:lstStyle/>
          <a:p>
            <a:pPr marL="0" indent="0">
              <a:buNone/>
            </a:pPr>
            <a:r>
              <a:rPr lang="en-US" sz="1200" b="1" dirty="0">
                <a:solidFill>
                  <a:srgbClr val="EB1700"/>
                </a:solidFill>
                <a:latin typeface="Arial" pitchFamily="34" charset="0"/>
                <a:ea typeface="Arial" pitchFamily="34" charset="-122"/>
                <a:cs typeface="Arial" pitchFamily="34" charset="-120"/>
              </a:rPr>
              <a:t>Lead Time Variance (Days)</a:t>
            </a:r>
            <a:endParaRPr lang="en-US" sz="1200" dirty="0"/>
          </a:p>
        </p:txBody>
      </p:sp>
      <p:graphicFrame>
        <p:nvGraphicFramePr>
          <p:cNvPr id="19" name="Chart 0"/>
          <p:cNvGraphicFramePr/>
          <p:nvPr/>
        </p:nvGraphicFramePr>
        <p:xfrm>
          <a:off x="548640" y="2468880"/>
          <a:ext cx="3657600" cy="237744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0" name="Chart 1"/>
          <p:cNvGraphicFramePr/>
          <p:nvPr/>
        </p:nvGraphicFramePr>
        <p:xfrm>
          <a:off x="4937760" y="2468880"/>
          <a:ext cx="3657600" cy="2377440"/>
        </p:xfrm>
        <a:graphic>
          <a:graphicData uri="http://schemas.openxmlformats.org/drawingml/2006/chart">
            <c:chart xmlns:c="http://schemas.openxmlformats.org/drawingml/2006/chart" xmlns:r="http://schemas.openxmlformats.org/officeDocument/2006/relationships" r:id="rId4"/>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EB1700"/>
          </a:solidFill>
          <a:ln/>
        </p:spPr>
        <p:txBody>
          <a:bodyPr/>
          <a:lstStyle/>
          <a:p>
            <a:endParaRPr lang="en-US"/>
          </a:p>
        </p:txBody>
      </p:sp>
      <p:sp>
        <p:nvSpPr>
          <p:cNvPr id="3" name="Text 1"/>
          <p:cNvSpPr/>
          <p:nvPr/>
        </p:nvSpPr>
        <p:spPr>
          <a:xfrm>
            <a:off x="548640" y="137160"/>
            <a:ext cx="8229600" cy="274320"/>
          </a:xfrm>
          <a:prstGeom prst="rect">
            <a:avLst/>
          </a:prstGeom>
          <a:noFill/>
          <a:ln/>
        </p:spPr>
        <p:txBody>
          <a:bodyPr wrap="square" lIns="0" tIns="0" rIns="0" bIns="0" rtlCol="0" anchor="ctr"/>
          <a:lstStyle/>
          <a:p>
            <a:pPr marL="0" indent="0">
              <a:buNone/>
            </a:pPr>
            <a:r>
              <a:rPr lang="en-US" sz="1100" b="1" dirty="0">
                <a:solidFill>
                  <a:srgbClr val="EB1700"/>
                </a:solidFill>
                <a:latin typeface="Arial" pitchFamily="34" charset="0"/>
                <a:ea typeface="Arial" pitchFamily="34" charset="-122"/>
                <a:cs typeface="Arial" pitchFamily="34" charset="-120"/>
              </a:rPr>
              <a:t>JANSSEN BUSINESS TECHNOLOGY</a:t>
            </a:r>
            <a:endParaRPr lang="en-US" sz="1100" dirty="0"/>
          </a:p>
        </p:txBody>
      </p:sp>
      <p:sp>
        <p:nvSpPr>
          <p:cNvPr id="4" name="Text 2"/>
          <p:cNvSpPr/>
          <p:nvPr/>
        </p:nvSpPr>
        <p:spPr>
          <a:xfrm>
            <a:off x="548640" y="411480"/>
            <a:ext cx="8046720" cy="457200"/>
          </a:xfrm>
          <a:prstGeom prst="rect">
            <a:avLst/>
          </a:prstGeom>
          <a:noFill/>
          <a:ln/>
        </p:spPr>
        <p:txBody>
          <a:bodyPr wrap="square" lIns="0" tIns="0" rIns="0" bIns="0" rtlCol="0" anchor="ctr"/>
          <a:lstStyle/>
          <a:p>
            <a:pPr marL="0" indent="0">
              <a:buNone/>
            </a:pPr>
            <a:r>
              <a:rPr lang="en-US" sz="2200" b="1" dirty="0">
                <a:solidFill>
                  <a:srgbClr val="EB1700"/>
                </a:solidFill>
                <a:latin typeface="Arial" pitchFamily="34" charset="0"/>
                <a:ea typeface="Arial" pitchFamily="34" charset="-122"/>
                <a:cs typeface="Arial" pitchFamily="34" charset="-120"/>
              </a:rPr>
              <a:t>–  </a:t>
            </a:r>
            <a:r>
              <a:rPr lang="en-US" sz="2200" b="1" dirty="0">
                <a:solidFill>
                  <a:srgbClr val="212121"/>
                </a:solidFill>
                <a:latin typeface="Arial" pitchFamily="34" charset="0"/>
                <a:ea typeface="Arial" pitchFamily="34" charset="-122"/>
                <a:cs typeface="Arial" pitchFamily="34" charset="-120"/>
              </a:rPr>
              <a:t>Proposed Solutions</a:t>
            </a:r>
            <a:endParaRPr lang="en-US" sz="2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2880360"/>
        </p:xfrm>
        <a:graphic>
          <a:graphicData uri="http://schemas.openxmlformats.org/drawingml/2006/table">
            <a:tbl>
              <a:tblPr/>
              <a:tblGrid>
                <a:gridCol w="4572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2011680">
                  <a:extLst>
                    <a:ext uri="{9D8B030D-6E8A-4147-A177-3AD203B41FA5}">
                      <a16:colId xmlns:a16="http://schemas.microsoft.com/office/drawing/2014/main" val="20003"/>
                    </a:ext>
                  </a:extLst>
                </a:gridCol>
              </a:tblGrid>
              <a:tr h="365760">
                <a:tc>
                  <a:txBody>
                    <a:bodyPr/>
                    <a:lstStyle/>
                    <a:p>
                      <a:pPr marL="0" indent="0" algn="ctr">
                        <a:buNone/>
                      </a:pPr>
                      <a:r>
                        <a:rPr lang="en-US" sz="1100" b="1" dirty="0">
                          <a:solidFill>
                            <a:srgbClr val="FFFFFF"/>
                          </a:solidFill>
                          <a:latin typeface="Arial" pitchFamily="34" charset="0"/>
                          <a:ea typeface="Arial" pitchFamily="34" charset="-122"/>
                          <a:cs typeface="Arial" pitchFamily="34" charset="-120"/>
                        </a:rPr>
                        <a:t>#</a:t>
                      </a:r>
                      <a:endParaRPr lang="en-US" sz="1100" dirty="0">
                        <a:latin typeface="Arial" charset="0"/>
                        <a:ea typeface="Arial" charset="0"/>
                        <a:cs typeface="Arial"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003479"/>
                    </a:solidFill>
                  </a:tcPr>
                </a:tc>
                <a:tc>
                  <a:txBody>
                    <a:bodyPr/>
                    <a:lstStyle/>
                    <a:p>
                      <a:pPr marL="0" indent="0">
                        <a:buNone/>
                      </a:pPr>
                      <a:r>
                        <a:rPr lang="en-US" sz="1100" b="1" dirty="0">
                          <a:solidFill>
                            <a:srgbClr val="FFFFFF"/>
                          </a:solidFill>
                          <a:latin typeface="Arial" pitchFamily="34" charset="0"/>
                          <a:ea typeface="Arial" pitchFamily="34" charset="-122"/>
                          <a:cs typeface="Arial" pitchFamily="34" charset="-120"/>
                        </a:rPr>
                        <a:t>Action</a:t>
                      </a:r>
                      <a:endParaRPr lang="en-US" sz="1100" dirty="0">
                        <a:latin typeface="Arial" charset="0"/>
                        <a:ea typeface="Arial" charset="0"/>
                        <a:cs typeface="Arial"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003479"/>
                    </a:solidFill>
                  </a:tcPr>
                </a:tc>
                <a:tc>
                  <a:txBody>
                    <a:bodyPr/>
                    <a:lstStyle/>
                    <a:p>
                      <a:pPr marL="0" indent="0">
                        <a:buNone/>
                      </a:pPr>
                      <a:r>
                        <a:rPr lang="en-US" sz="1100" b="1" dirty="0">
                          <a:solidFill>
                            <a:srgbClr val="FFFFFF"/>
                          </a:solidFill>
                          <a:latin typeface="Arial" pitchFamily="34" charset="0"/>
                          <a:ea typeface="Arial" pitchFamily="34" charset="-122"/>
                          <a:cs typeface="Arial" pitchFamily="34" charset="-120"/>
                        </a:rPr>
                        <a:t>Owner</a:t>
                      </a:r>
                      <a:endParaRPr lang="en-US" sz="1100" dirty="0">
                        <a:latin typeface="Arial" charset="0"/>
                        <a:ea typeface="Arial" charset="0"/>
                        <a:cs typeface="Arial"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003479"/>
                    </a:solidFill>
                  </a:tcPr>
                </a:tc>
                <a:tc>
                  <a:txBody>
                    <a:bodyPr/>
                    <a:lstStyle/>
                    <a:p>
                      <a:pPr marL="0" indent="0">
                        <a:buNone/>
                      </a:pPr>
                      <a:r>
                        <a:rPr lang="en-US" sz="1100" b="1" dirty="0">
                          <a:solidFill>
                            <a:srgbClr val="FFFFFF"/>
                          </a:solidFill>
                          <a:latin typeface="Arial" pitchFamily="34" charset="0"/>
                          <a:ea typeface="Arial" pitchFamily="34" charset="-122"/>
                          <a:cs typeface="Arial" pitchFamily="34" charset="-120"/>
                        </a:rPr>
                        <a:t>Focus Area</a:t>
                      </a:r>
                      <a:endParaRPr lang="en-US" sz="1100" dirty="0">
                        <a:latin typeface="Arial" charset="0"/>
                        <a:ea typeface="Arial" charset="0"/>
                        <a:cs typeface="Arial"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003479"/>
                    </a:solidFill>
                  </a:tcPr>
                </a:tc>
                <a:extLst>
                  <a:ext uri="{0D108BD9-81ED-4DB2-BD59-A6C34878D82A}">
                    <a16:rowId xmlns:a16="http://schemas.microsoft.com/office/drawing/2014/main" val="10000"/>
                  </a:ext>
                </a:extLst>
              </a:tr>
              <a:tr h="502920">
                <a:tc>
                  <a:txBody>
                    <a:bodyPr/>
                    <a:lstStyle/>
                    <a:p>
                      <a:pPr marL="0" indent="0" algn="ctr">
                        <a:buNone/>
                      </a:pPr>
                      <a:r>
                        <a:rPr lang="en-US" sz="1100" b="1" dirty="0">
                          <a:solidFill>
                            <a:srgbClr val="EB1700"/>
                          </a:solidFill>
                          <a:latin typeface="Arial" pitchFamily="34" charset="0"/>
                          <a:ea typeface="Arial" pitchFamily="34" charset="-122"/>
                          <a:cs typeface="Arial" pitchFamily="34" charset="-120"/>
                        </a:rPr>
                        <a:t>1</a:t>
                      </a:r>
                      <a:endParaRPr lang="en-US" sz="1100" dirty="0">
                        <a:latin typeface="Arial" charset="0"/>
                        <a:ea typeface="Arial" charset="0"/>
                        <a:cs typeface="Arial"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buNone/>
                      </a:pPr>
                      <a:r>
                        <a:rPr lang="en-US" sz="1050" dirty="0">
                          <a:solidFill>
                            <a:srgbClr val="444444"/>
                          </a:solidFill>
                          <a:latin typeface="Arial" pitchFamily="34" charset="0"/>
                          <a:ea typeface="Arial" pitchFamily="34" charset="-122"/>
                          <a:cs typeface="Arial" pitchFamily="34" charset="-120"/>
                        </a:rPr>
                        <a:t>Negotiate expedited shipping terms and increase inventory buffers for BIND567</a:t>
                      </a:r>
                      <a:endParaRPr lang="en-US" sz="1050" dirty="0">
                        <a:latin typeface="Arial" charset="0"/>
                        <a:ea typeface="Arial" charset="0"/>
                        <a:cs typeface="Arial"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buNone/>
                      </a:pPr>
                      <a:r>
                        <a:rPr lang="en-US" sz="1050" b="1" dirty="0">
                          <a:solidFill>
                            <a:srgbClr val="444444"/>
                          </a:solidFill>
                          <a:latin typeface="Arial" pitchFamily="34" charset="0"/>
                          <a:ea typeface="Arial" pitchFamily="34" charset="-122"/>
                          <a:cs typeface="Arial" pitchFamily="34" charset="-120"/>
                        </a:rPr>
                        <a:t>Supply Chain</a:t>
                      </a:r>
                      <a:endParaRPr lang="en-US" sz="1050" dirty="0">
                        <a:latin typeface="Arial" charset="0"/>
                        <a:ea typeface="Arial" charset="0"/>
                        <a:cs typeface="Arial"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buNone/>
                      </a:pPr>
                      <a:r>
                        <a:rPr lang="en-US" sz="1050" dirty="0">
                          <a:solidFill>
                            <a:srgbClr val="444444"/>
                          </a:solidFill>
                          <a:latin typeface="Arial" pitchFamily="34" charset="0"/>
                          <a:ea typeface="Arial" pitchFamily="34" charset="-122"/>
                          <a:cs typeface="Arial" pitchFamily="34" charset="-120"/>
                        </a:rPr>
                        <a:t>Supplier Mgmt</a:t>
                      </a:r>
                      <a:endParaRPr lang="en-US" sz="1050" dirty="0">
                        <a:latin typeface="Arial" charset="0"/>
                        <a:ea typeface="Arial" charset="0"/>
                        <a:cs typeface="Arial"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1"/>
                  </a:ext>
                </a:extLst>
              </a:tr>
              <a:tr h="502920">
                <a:tc>
                  <a:txBody>
                    <a:bodyPr/>
                    <a:lstStyle/>
                    <a:p>
                      <a:pPr marL="0" indent="0" algn="ctr">
                        <a:buNone/>
                      </a:pPr>
                      <a:r>
                        <a:rPr lang="en-US" sz="1100" b="1" dirty="0">
                          <a:solidFill>
                            <a:srgbClr val="EB1700"/>
                          </a:solidFill>
                          <a:latin typeface="Arial" pitchFamily="34" charset="0"/>
                          <a:ea typeface="Arial" pitchFamily="34" charset="-122"/>
                          <a:cs typeface="Arial" pitchFamily="34" charset="-120"/>
                        </a:rPr>
                        <a:t>2</a:t>
                      </a:r>
                      <a:endParaRPr lang="en-US" sz="1100" dirty="0">
                        <a:latin typeface="Arial" charset="0"/>
                        <a:ea typeface="Arial" charset="0"/>
                        <a:cs typeface="Arial"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0F0F0"/>
                    </a:solidFill>
                  </a:tcPr>
                </a:tc>
                <a:tc>
                  <a:txBody>
                    <a:bodyPr/>
                    <a:lstStyle/>
                    <a:p>
                      <a:pPr marL="0" indent="0">
                        <a:buNone/>
                      </a:pPr>
                      <a:r>
                        <a:rPr lang="en-US" sz="1050" dirty="0">
                          <a:solidFill>
                            <a:srgbClr val="444444"/>
                          </a:solidFill>
                          <a:latin typeface="Arial" pitchFamily="34" charset="0"/>
                          <a:ea typeface="Arial" pitchFamily="34" charset="-122"/>
                          <a:cs typeface="Arial" pitchFamily="34" charset="-120"/>
                        </a:rPr>
                        <a:t>Collaborate with PrimeLogistics on demand planning; adjust order cycles for COMP042</a:t>
                      </a:r>
                      <a:endParaRPr lang="en-US" sz="1050" dirty="0">
                        <a:latin typeface="Arial" charset="0"/>
                        <a:ea typeface="Arial" charset="0"/>
                        <a:cs typeface="Arial"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0F0F0"/>
                    </a:solidFill>
                  </a:tcPr>
                </a:tc>
                <a:tc>
                  <a:txBody>
                    <a:bodyPr/>
                    <a:lstStyle/>
                    <a:p>
                      <a:pPr marL="0" indent="0">
                        <a:buNone/>
                      </a:pPr>
                      <a:r>
                        <a:rPr lang="en-US" sz="1050" b="1" dirty="0">
                          <a:solidFill>
                            <a:srgbClr val="444444"/>
                          </a:solidFill>
                          <a:latin typeface="Arial" pitchFamily="34" charset="0"/>
                          <a:ea typeface="Arial" pitchFamily="34" charset="-122"/>
                          <a:cs typeface="Arial" pitchFamily="34" charset="-120"/>
                        </a:rPr>
                        <a:t>Procurement</a:t>
                      </a:r>
                      <a:endParaRPr lang="en-US" sz="1050" dirty="0">
                        <a:latin typeface="Arial" charset="0"/>
                        <a:ea typeface="Arial" charset="0"/>
                        <a:cs typeface="Arial"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0F0F0"/>
                    </a:solidFill>
                  </a:tcPr>
                </a:tc>
                <a:tc>
                  <a:txBody>
                    <a:bodyPr/>
                    <a:lstStyle/>
                    <a:p>
                      <a:pPr marL="0" indent="0">
                        <a:buNone/>
                      </a:pPr>
                      <a:r>
                        <a:rPr lang="en-US" sz="1050" dirty="0">
                          <a:solidFill>
                            <a:srgbClr val="444444"/>
                          </a:solidFill>
                          <a:latin typeface="Arial" pitchFamily="34" charset="0"/>
                          <a:ea typeface="Arial" pitchFamily="34" charset="-122"/>
                          <a:cs typeface="Arial" pitchFamily="34" charset="-120"/>
                        </a:rPr>
                        <a:t>Delivery</a:t>
                      </a:r>
                      <a:endParaRPr lang="en-US" sz="1050" dirty="0">
                        <a:latin typeface="Arial" charset="0"/>
                        <a:ea typeface="Arial" charset="0"/>
                        <a:cs typeface="Arial"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0F0F0"/>
                    </a:solidFill>
                  </a:tcPr>
                </a:tc>
                <a:extLst>
                  <a:ext uri="{0D108BD9-81ED-4DB2-BD59-A6C34878D82A}">
                    <a16:rowId xmlns:a16="http://schemas.microsoft.com/office/drawing/2014/main" val="10002"/>
                  </a:ext>
                </a:extLst>
              </a:tr>
              <a:tr h="502920">
                <a:tc>
                  <a:txBody>
                    <a:bodyPr/>
                    <a:lstStyle/>
                    <a:p>
                      <a:pPr marL="0" indent="0" algn="ctr">
                        <a:buNone/>
                      </a:pPr>
                      <a:r>
                        <a:rPr lang="en-US" sz="1100" b="1" dirty="0">
                          <a:solidFill>
                            <a:srgbClr val="EB1700"/>
                          </a:solidFill>
                          <a:latin typeface="Arial" pitchFamily="34" charset="0"/>
                          <a:ea typeface="Arial" pitchFamily="34" charset="-122"/>
                          <a:cs typeface="Arial" pitchFamily="34" charset="-120"/>
                        </a:rPr>
                        <a:t>3</a:t>
                      </a:r>
                      <a:endParaRPr lang="en-US" sz="1100" dirty="0">
                        <a:latin typeface="Arial" charset="0"/>
                        <a:ea typeface="Arial" charset="0"/>
                        <a:cs typeface="Arial"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buNone/>
                      </a:pPr>
                      <a:r>
                        <a:rPr lang="en-US" sz="1050" dirty="0">
                          <a:solidFill>
                            <a:srgbClr val="444444"/>
                          </a:solidFill>
                          <a:latin typeface="Arial" pitchFamily="34" charset="0"/>
                          <a:ea typeface="Arial" pitchFamily="34" charset="-122"/>
                          <a:cs typeface="Arial" pitchFamily="34" charset="-120"/>
                        </a:rPr>
                        <a:t>Enhance incoming inspection and forecast accuracy for COMP043</a:t>
                      </a:r>
                      <a:endParaRPr lang="en-US" sz="1050" dirty="0">
                        <a:latin typeface="Arial" charset="0"/>
                        <a:ea typeface="Arial" charset="0"/>
                        <a:cs typeface="Arial"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buNone/>
                      </a:pPr>
                      <a:r>
                        <a:rPr lang="en-US" sz="1050" b="1" dirty="0">
                          <a:solidFill>
                            <a:srgbClr val="444444"/>
                          </a:solidFill>
                          <a:latin typeface="Arial" pitchFamily="34" charset="0"/>
                          <a:ea typeface="Arial" pitchFamily="34" charset="-122"/>
                          <a:cs typeface="Arial" pitchFamily="34" charset="-120"/>
                        </a:rPr>
                        <a:t>Quality</a:t>
                      </a:r>
                      <a:endParaRPr lang="en-US" sz="1050" dirty="0">
                        <a:latin typeface="Arial" charset="0"/>
                        <a:ea typeface="Arial" charset="0"/>
                        <a:cs typeface="Arial"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buNone/>
                      </a:pPr>
                      <a:r>
                        <a:rPr lang="en-US" sz="1050" dirty="0">
                          <a:solidFill>
                            <a:srgbClr val="444444"/>
                          </a:solidFill>
                          <a:latin typeface="Arial" pitchFamily="34" charset="0"/>
                          <a:ea typeface="Arial" pitchFamily="34" charset="-122"/>
                          <a:cs typeface="Arial" pitchFamily="34" charset="-120"/>
                        </a:rPr>
                        <a:t>Quality Controls</a:t>
                      </a:r>
                      <a:endParaRPr lang="en-US" sz="1050" dirty="0">
                        <a:latin typeface="Arial" charset="0"/>
                        <a:ea typeface="Arial" charset="0"/>
                        <a:cs typeface="Arial"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3"/>
                  </a:ext>
                </a:extLst>
              </a:tr>
              <a:tr h="502920">
                <a:tc>
                  <a:txBody>
                    <a:bodyPr/>
                    <a:lstStyle/>
                    <a:p>
                      <a:pPr marL="0" indent="0" algn="ctr">
                        <a:buNone/>
                      </a:pPr>
                      <a:r>
                        <a:rPr lang="en-US" sz="1100" b="1" dirty="0">
                          <a:solidFill>
                            <a:srgbClr val="EB1700"/>
                          </a:solidFill>
                          <a:latin typeface="Arial" pitchFamily="34" charset="0"/>
                          <a:ea typeface="Arial" pitchFamily="34" charset="-122"/>
                          <a:cs typeface="Arial" pitchFamily="34" charset="-120"/>
                        </a:rPr>
                        <a:t>4</a:t>
                      </a:r>
                      <a:endParaRPr lang="en-US" sz="1100" dirty="0">
                        <a:latin typeface="Arial" charset="0"/>
                        <a:ea typeface="Arial" charset="0"/>
                        <a:cs typeface="Arial"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0F0F0"/>
                    </a:solidFill>
                  </a:tcPr>
                </a:tc>
                <a:tc>
                  <a:txBody>
                    <a:bodyPr/>
                    <a:lstStyle/>
                    <a:p>
                      <a:pPr marL="0" indent="0">
                        <a:buNone/>
                      </a:pPr>
                      <a:r>
                        <a:rPr lang="en-US" sz="1050" dirty="0">
                          <a:solidFill>
                            <a:srgbClr val="444444"/>
                          </a:solidFill>
                          <a:latin typeface="Arial" pitchFamily="34" charset="0"/>
                          <a:ea typeface="Arial" pitchFamily="34" charset="-122"/>
                          <a:cs typeface="Arial" pitchFamily="34" charset="-120"/>
                        </a:rPr>
                        <a:t>Qualify secondary suppliers for components with recurring variability</a:t>
                      </a:r>
                      <a:endParaRPr lang="en-US" sz="1050" dirty="0">
                        <a:latin typeface="Arial" charset="0"/>
                        <a:ea typeface="Arial" charset="0"/>
                        <a:cs typeface="Arial"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0F0F0"/>
                    </a:solidFill>
                  </a:tcPr>
                </a:tc>
                <a:tc>
                  <a:txBody>
                    <a:bodyPr/>
                    <a:lstStyle/>
                    <a:p>
                      <a:pPr marL="0" indent="0">
                        <a:buNone/>
                      </a:pPr>
                      <a:r>
                        <a:rPr lang="en-US" sz="1050" b="1" dirty="0">
                          <a:solidFill>
                            <a:srgbClr val="444444"/>
                          </a:solidFill>
                          <a:latin typeface="Arial" pitchFamily="34" charset="0"/>
                          <a:ea typeface="Arial" pitchFamily="34" charset="-122"/>
                          <a:cs typeface="Arial" pitchFamily="34" charset="-120"/>
                        </a:rPr>
                        <a:t>Procurement</a:t>
                      </a:r>
                      <a:endParaRPr lang="en-US" sz="1050" dirty="0">
                        <a:latin typeface="Arial" charset="0"/>
                        <a:ea typeface="Arial" charset="0"/>
                        <a:cs typeface="Arial"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0F0F0"/>
                    </a:solidFill>
                  </a:tcPr>
                </a:tc>
                <a:tc>
                  <a:txBody>
                    <a:bodyPr/>
                    <a:lstStyle/>
                    <a:p>
                      <a:pPr marL="0" indent="0">
                        <a:buNone/>
                      </a:pPr>
                      <a:r>
                        <a:rPr lang="en-US" sz="1050" dirty="0">
                          <a:solidFill>
                            <a:srgbClr val="444444"/>
                          </a:solidFill>
                          <a:latin typeface="Arial" pitchFamily="34" charset="0"/>
                          <a:ea typeface="Arial" pitchFamily="34" charset="-122"/>
                          <a:cs typeface="Arial" pitchFamily="34" charset="-120"/>
                        </a:rPr>
                        <a:t>Resilience</a:t>
                      </a:r>
                      <a:endParaRPr lang="en-US" sz="1050" dirty="0">
                        <a:latin typeface="Arial" charset="0"/>
                        <a:ea typeface="Arial" charset="0"/>
                        <a:cs typeface="Arial"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0F0F0"/>
                    </a:solidFill>
                  </a:tcPr>
                </a:tc>
                <a:extLst>
                  <a:ext uri="{0D108BD9-81ED-4DB2-BD59-A6C34878D82A}">
                    <a16:rowId xmlns:a16="http://schemas.microsoft.com/office/drawing/2014/main" val="10004"/>
                  </a:ext>
                </a:extLst>
              </a:tr>
              <a:tr h="502920">
                <a:tc>
                  <a:txBody>
                    <a:bodyPr/>
                    <a:lstStyle/>
                    <a:p>
                      <a:pPr marL="0" indent="0" algn="ctr">
                        <a:buNone/>
                      </a:pPr>
                      <a:r>
                        <a:rPr lang="en-US" sz="1100" b="1" dirty="0">
                          <a:solidFill>
                            <a:srgbClr val="EB1700"/>
                          </a:solidFill>
                          <a:latin typeface="Arial" pitchFamily="34" charset="0"/>
                          <a:ea typeface="Arial" pitchFamily="34" charset="-122"/>
                          <a:cs typeface="Arial" pitchFamily="34" charset="-120"/>
                        </a:rPr>
                        <a:t>5</a:t>
                      </a:r>
                      <a:endParaRPr lang="en-US" sz="1100" dirty="0">
                        <a:latin typeface="Arial" charset="0"/>
                        <a:ea typeface="Arial" charset="0"/>
                        <a:cs typeface="Arial"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buNone/>
                      </a:pPr>
                      <a:r>
                        <a:rPr lang="en-US" sz="1050" dirty="0">
                          <a:solidFill>
                            <a:srgbClr val="444444"/>
                          </a:solidFill>
                          <a:latin typeface="Arial" pitchFamily="34" charset="0"/>
                          <a:ea typeface="Arial" pitchFamily="34" charset="-122"/>
                          <a:cs typeface="Arial" pitchFamily="34" charset="-120"/>
                        </a:rPr>
                        <a:t>Strengthen monitoring dashboards for delivery, defect trends, and inventory exposure</a:t>
                      </a:r>
                      <a:endParaRPr lang="en-US" sz="1050" dirty="0">
                        <a:latin typeface="Arial" charset="0"/>
                        <a:ea typeface="Arial" charset="0"/>
                        <a:cs typeface="Arial"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buNone/>
                      </a:pPr>
                      <a:r>
                        <a:rPr lang="en-US" sz="1050" b="1" dirty="0">
                          <a:solidFill>
                            <a:srgbClr val="444444"/>
                          </a:solidFill>
                          <a:latin typeface="Arial" pitchFamily="34" charset="0"/>
                          <a:ea typeface="Arial" pitchFamily="34" charset="-122"/>
                          <a:cs typeface="Arial" pitchFamily="34" charset="-120"/>
                        </a:rPr>
                        <a:t>Operations</a:t>
                      </a:r>
                      <a:endParaRPr lang="en-US" sz="1050" dirty="0">
                        <a:latin typeface="Arial" charset="0"/>
                        <a:ea typeface="Arial" charset="0"/>
                        <a:cs typeface="Arial"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buNone/>
                      </a:pPr>
                      <a:r>
                        <a:rPr lang="en-US" sz="1050" dirty="0">
                          <a:solidFill>
                            <a:srgbClr val="444444"/>
                          </a:solidFill>
                          <a:latin typeface="Arial" pitchFamily="34" charset="0"/>
                          <a:ea typeface="Arial" pitchFamily="34" charset="-122"/>
                          <a:cs typeface="Arial" pitchFamily="34" charset="-120"/>
                        </a:rPr>
                        <a:t>Risk Monitoring</a:t>
                      </a:r>
                      <a:endParaRPr lang="en-US" sz="1050" dirty="0">
                        <a:latin typeface="Arial" charset="0"/>
                        <a:ea typeface="Arial" charset="0"/>
                        <a:cs typeface="Arial"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6" name="Text 3"/>
          <p:cNvSpPr/>
          <p:nvPr/>
        </p:nvSpPr>
        <p:spPr>
          <a:xfrm>
            <a:off x="548640" y="4160520"/>
            <a:ext cx="8046720" cy="457200"/>
          </a:xfrm>
          <a:prstGeom prst="rect">
            <a:avLst/>
          </a:prstGeom>
          <a:noFill/>
          <a:ln/>
        </p:spPr>
        <p:txBody>
          <a:bodyPr wrap="square" lIns="0" tIns="0" rIns="0" bIns="0" rtlCol="0" anchor="ctr"/>
          <a:lstStyle/>
          <a:p>
            <a:pPr marL="0" indent="0">
              <a:buNone/>
            </a:pPr>
            <a:r>
              <a:rPr lang="en-US" sz="1100" b="1" dirty="0">
                <a:solidFill>
                  <a:srgbClr val="EB1700"/>
                </a:solidFill>
                <a:latin typeface="Arial" pitchFamily="34" charset="0"/>
                <a:ea typeface="Arial" pitchFamily="34" charset="-122"/>
                <a:cs typeface="Arial" pitchFamily="34" charset="-120"/>
              </a:rPr>
              <a:t>Key Insight: </a:t>
            </a:r>
            <a:r>
              <a:rPr lang="en-US" sz="1100" dirty="0">
                <a:solidFill>
                  <a:srgbClr val="444444"/>
                </a:solidFill>
                <a:latin typeface="Arial" pitchFamily="34" charset="0"/>
                <a:ea typeface="Arial" pitchFamily="34" charset="-122"/>
                <a:cs typeface="Arial" pitchFamily="34" charset="-120"/>
              </a:rPr>
              <a:t>Overdue maintenance drives a 44% higher defect rate (3.02% vs 2.09%). Current plans depend heavily on expediting — addressing symptoms rather than root causes.</a:t>
            </a:r>
            <a:endParaRPr lang="en-US" sz="1100" dirty="0"/>
          </a:p>
        </p:txBody>
      </p:sp>
      <p:sp>
        <p:nvSpPr>
          <p:cNvPr id="7" name="Text 4"/>
          <p:cNvSpPr/>
          <p:nvPr/>
        </p:nvSpPr>
        <p:spPr>
          <a:xfrm>
            <a:off x="548640" y="4663440"/>
            <a:ext cx="8046720" cy="274320"/>
          </a:xfrm>
          <a:prstGeom prst="rect">
            <a:avLst/>
          </a:prstGeom>
          <a:noFill/>
          <a:ln/>
        </p:spPr>
        <p:txBody>
          <a:bodyPr wrap="square" lIns="0" tIns="0" rIns="0" bIns="0" rtlCol="0" anchor="ctr"/>
          <a:lstStyle/>
          <a:p>
            <a:pPr marL="0" indent="0">
              <a:buNone/>
            </a:pPr>
            <a:r>
              <a:rPr lang="en-US" sz="1000" b="1" dirty="0">
                <a:solidFill>
                  <a:srgbClr val="EB1700"/>
                </a:solidFill>
                <a:latin typeface="Arial" pitchFamily="34" charset="0"/>
                <a:ea typeface="Arial" pitchFamily="34" charset="-122"/>
                <a:cs typeface="Arial" pitchFamily="34" charset="-120"/>
              </a:rPr>
              <a:t>Coordination: </a:t>
            </a:r>
            <a:r>
              <a:rPr lang="en-US" sz="1000" dirty="0">
                <a:solidFill>
                  <a:srgbClr val="555555"/>
                </a:solidFill>
                <a:latin typeface="Arial" pitchFamily="34" charset="0"/>
                <a:ea typeface="Arial" pitchFamily="34" charset="-122"/>
                <a:cs typeface="Arial" pitchFamily="34" charset="-120"/>
              </a:rPr>
              <a:t>Cross-functional teams to lead follow-up reviews and progress reporting across all action streams.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EB1700"/>
          </a:solidFill>
          <a:ln/>
        </p:spPr>
        <p:txBody>
          <a:bodyPr/>
          <a:lstStyle/>
          <a:p>
            <a:endParaRPr lang="en-US"/>
          </a:p>
        </p:txBody>
      </p:sp>
      <p:sp>
        <p:nvSpPr>
          <p:cNvPr id="3" name="Text 1"/>
          <p:cNvSpPr/>
          <p:nvPr/>
        </p:nvSpPr>
        <p:spPr>
          <a:xfrm>
            <a:off x="548640" y="137160"/>
            <a:ext cx="8229600" cy="274320"/>
          </a:xfrm>
          <a:prstGeom prst="rect">
            <a:avLst/>
          </a:prstGeom>
          <a:noFill/>
          <a:ln/>
        </p:spPr>
        <p:txBody>
          <a:bodyPr wrap="square" lIns="0" tIns="0" rIns="0" bIns="0" rtlCol="0" anchor="ctr"/>
          <a:lstStyle/>
          <a:p>
            <a:pPr marL="0" indent="0">
              <a:buNone/>
            </a:pPr>
            <a:r>
              <a:rPr lang="en-US" sz="1100" b="1" dirty="0">
                <a:solidFill>
                  <a:srgbClr val="EB1700"/>
                </a:solidFill>
                <a:latin typeface="Arial" pitchFamily="34" charset="0"/>
                <a:ea typeface="Arial" pitchFamily="34" charset="-122"/>
                <a:cs typeface="Arial" pitchFamily="34" charset="-120"/>
              </a:rPr>
              <a:t>JANSSEN BUSINESS TECHNOLOGY</a:t>
            </a:r>
            <a:endParaRPr lang="en-US" sz="1100" dirty="0"/>
          </a:p>
        </p:txBody>
      </p:sp>
      <p:sp>
        <p:nvSpPr>
          <p:cNvPr id="4" name="Text 2"/>
          <p:cNvSpPr/>
          <p:nvPr/>
        </p:nvSpPr>
        <p:spPr>
          <a:xfrm>
            <a:off x="548640" y="411480"/>
            <a:ext cx="8046720" cy="457200"/>
          </a:xfrm>
          <a:prstGeom prst="rect">
            <a:avLst/>
          </a:prstGeom>
          <a:noFill/>
          <a:ln/>
        </p:spPr>
        <p:txBody>
          <a:bodyPr wrap="square" lIns="0" tIns="0" rIns="0" bIns="0" rtlCol="0" anchor="ctr"/>
          <a:lstStyle/>
          <a:p>
            <a:pPr marL="0" indent="0">
              <a:buNone/>
            </a:pPr>
            <a:r>
              <a:rPr lang="en-US" sz="2200" b="1" dirty="0">
                <a:solidFill>
                  <a:srgbClr val="EB1700"/>
                </a:solidFill>
                <a:latin typeface="Arial" pitchFamily="34" charset="0"/>
                <a:ea typeface="Arial" pitchFamily="34" charset="-122"/>
                <a:cs typeface="Arial" pitchFamily="34" charset="-120"/>
              </a:rPr>
              <a:t>–  </a:t>
            </a:r>
            <a:r>
              <a:rPr lang="en-US" sz="2200" b="1" dirty="0">
                <a:solidFill>
                  <a:srgbClr val="212121"/>
                </a:solidFill>
                <a:latin typeface="Arial" pitchFamily="34" charset="0"/>
                <a:ea typeface="Arial" pitchFamily="34" charset="-122"/>
                <a:cs typeface="Arial" pitchFamily="34" charset="-120"/>
              </a:rPr>
              <a:t>Implementation Plan</a:t>
            </a:r>
            <a:endParaRPr lang="en-US" sz="2200" dirty="0"/>
          </a:p>
        </p:txBody>
      </p:sp>
      <p:sp>
        <p:nvSpPr>
          <p:cNvPr id="5" name="Shape 3"/>
          <p:cNvSpPr/>
          <p:nvPr/>
        </p:nvSpPr>
        <p:spPr>
          <a:xfrm>
            <a:off x="548640" y="1097280"/>
            <a:ext cx="2377440" cy="411480"/>
          </a:xfrm>
          <a:prstGeom prst="rect">
            <a:avLst/>
          </a:prstGeom>
          <a:solidFill>
            <a:srgbClr val="EB1700"/>
          </a:solidFill>
          <a:ln/>
        </p:spPr>
        <p:txBody>
          <a:bodyPr/>
          <a:lstStyle/>
          <a:p>
            <a:endParaRPr lang="en-US"/>
          </a:p>
        </p:txBody>
      </p:sp>
      <p:sp>
        <p:nvSpPr>
          <p:cNvPr id="6" name="Text 4"/>
          <p:cNvSpPr/>
          <p:nvPr/>
        </p:nvSpPr>
        <p:spPr>
          <a:xfrm>
            <a:off x="685800" y="1097280"/>
            <a:ext cx="2103120" cy="411480"/>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Immediate  (0–1 Week)</a:t>
            </a:r>
            <a:endParaRPr lang="en-US" sz="1100" dirty="0"/>
          </a:p>
        </p:txBody>
      </p:sp>
      <p:sp>
        <p:nvSpPr>
          <p:cNvPr id="7" name="Text 5"/>
          <p:cNvSpPr/>
          <p:nvPr/>
        </p:nvSpPr>
        <p:spPr>
          <a:xfrm>
            <a:off x="640080" y="1645920"/>
            <a:ext cx="2194560" cy="2011680"/>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rgbClr val="555555"/>
                </a:solidFill>
                <a:latin typeface="Arial" pitchFamily="34" charset="0"/>
                <a:ea typeface="Arial" pitchFamily="34" charset="-122"/>
                <a:cs typeface="Arial" pitchFamily="34" charset="-120"/>
              </a:rPr>
              <a:t>Notify suppliers of schedule sensitivity</a:t>
            </a:r>
            <a:endParaRPr lang="en-US" sz="1100" dirty="0"/>
          </a:p>
          <a:p>
            <a:pPr marL="342900" indent="-342900">
              <a:spcAft>
                <a:spcPts val="600"/>
              </a:spcAft>
              <a:buSzPct val="100000"/>
              <a:buChar char="•"/>
            </a:pPr>
            <a:r>
              <a:rPr lang="en-US" sz="1100" dirty="0">
                <a:solidFill>
                  <a:srgbClr val="555555"/>
                </a:solidFill>
                <a:latin typeface="Arial" pitchFamily="34" charset="0"/>
                <a:ea typeface="Arial" pitchFamily="34" charset="-122"/>
                <a:cs typeface="Arial" pitchFamily="34" charset="-120"/>
              </a:rPr>
              <a:t>Request expedited shipping options</a:t>
            </a:r>
            <a:endParaRPr lang="en-US" sz="1100" dirty="0"/>
          </a:p>
          <a:p>
            <a:pPr marL="342900" indent="-342900">
              <a:spcAft>
                <a:spcPts val="600"/>
              </a:spcAft>
              <a:buSzPct val="100000"/>
              <a:buChar char="•"/>
            </a:pPr>
            <a:r>
              <a:rPr lang="en-US" sz="1100" dirty="0">
                <a:solidFill>
                  <a:srgbClr val="555555"/>
                </a:solidFill>
                <a:latin typeface="Arial" pitchFamily="34" charset="0"/>
                <a:ea typeface="Arial" pitchFamily="34" charset="-122"/>
                <a:cs typeface="Arial" pitchFamily="34" charset="-120"/>
              </a:rPr>
              <a:t>Review alternative supply coverage</a:t>
            </a:r>
            <a:endParaRPr lang="en-US" sz="1100" dirty="0"/>
          </a:p>
          <a:p>
            <a:pPr marL="342900" indent="-342900">
              <a:spcAft>
                <a:spcPts val="600"/>
              </a:spcAft>
              <a:buSzPct val="100000"/>
              <a:buChar char="•"/>
            </a:pPr>
            <a:r>
              <a:rPr lang="en-US" sz="1100" dirty="0">
                <a:solidFill>
                  <a:srgbClr val="555555"/>
                </a:solidFill>
                <a:latin typeface="Arial" pitchFamily="34" charset="0"/>
                <a:ea typeface="Arial" pitchFamily="34" charset="-122"/>
                <a:cs typeface="Arial" pitchFamily="34" charset="-120"/>
              </a:rPr>
              <a:t>Adjust production plans</a:t>
            </a:r>
            <a:endParaRPr lang="en-US" sz="1100" dirty="0"/>
          </a:p>
        </p:txBody>
      </p:sp>
      <p:sp>
        <p:nvSpPr>
          <p:cNvPr id="8" name="Text 6"/>
          <p:cNvSpPr/>
          <p:nvPr/>
        </p:nvSpPr>
        <p:spPr>
          <a:xfrm>
            <a:off x="3017520" y="1143000"/>
            <a:ext cx="228600" cy="320040"/>
          </a:xfrm>
          <a:prstGeom prst="rect">
            <a:avLst/>
          </a:prstGeom>
          <a:noFill/>
          <a:ln/>
        </p:spPr>
        <p:txBody>
          <a:bodyPr wrap="square" lIns="0" tIns="0" rIns="0" bIns="0" rtlCol="0" anchor="ctr"/>
          <a:lstStyle/>
          <a:p>
            <a:pPr marL="0" indent="0" algn="ctr">
              <a:buNone/>
            </a:pPr>
            <a:r>
              <a:rPr lang="en-US" sz="1400" dirty="0">
                <a:solidFill>
                  <a:srgbClr val="EB1700"/>
                </a:solidFill>
                <a:latin typeface="Arial" pitchFamily="34" charset="0"/>
                <a:ea typeface="Arial" pitchFamily="34" charset="-122"/>
                <a:cs typeface="Arial" pitchFamily="34" charset="-120"/>
              </a:rPr>
              <a:t>▸</a:t>
            </a:r>
            <a:endParaRPr lang="en-US" sz="1400" dirty="0"/>
          </a:p>
        </p:txBody>
      </p:sp>
      <p:sp>
        <p:nvSpPr>
          <p:cNvPr id="9" name="Shape 7"/>
          <p:cNvSpPr/>
          <p:nvPr/>
        </p:nvSpPr>
        <p:spPr>
          <a:xfrm>
            <a:off x="3337560" y="1097280"/>
            <a:ext cx="2377440" cy="411480"/>
          </a:xfrm>
          <a:prstGeom prst="rect">
            <a:avLst/>
          </a:prstGeom>
          <a:solidFill>
            <a:srgbClr val="003479"/>
          </a:solidFill>
          <a:ln/>
        </p:spPr>
        <p:txBody>
          <a:bodyPr/>
          <a:lstStyle/>
          <a:p>
            <a:endParaRPr lang="en-US"/>
          </a:p>
        </p:txBody>
      </p:sp>
      <p:sp>
        <p:nvSpPr>
          <p:cNvPr id="10" name="Text 8"/>
          <p:cNvSpPr/>
          <p:nvPr/>
        </p:nvSpPr>
        <p:spPr>
          <a:xfrm>
            <a:off x="3474720" y="1097280"/>
            <a:ext cx="2103120" cy="411480"/>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Short-Term  (1–3 Weeks)</a:t>
            </a:r>
            <a:endParaRPr lang="en-US" sz="1100" dirty="0"/>
          </a:p>
        </p:txBody>
      </p:sp>
      <p:sp>
        <p:nvSpPr>
          <p:cNvPr id="11" name="Text 9"/>
          <p:cNvSpPr/>
          <p:nvPr/>
        </p:nvSpPr>
        <p:spPr>
          <a:xfrm>
            <a:off x="3429000" y="1645920"/>
            <a:ext cx="2194560" cy="2011680"/>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rgbClr val="555555"/>
                </a:solidFill>
                <a:latin typeface="Arial" pitchFamily="34" charset="0"/>
                <a:ea typeface="Arial" pitchFamily="34" charset="-122"/>
                <a:cs typeface="Arial" pitchFamily="34" charset="-120"/>
              </a:rPr>
              <a:t>Refine delivery schedules</a:t>
            </a:r>
            <a:endParaRPr lang="en-US" sz="1100" dirty="0"/>
          </a:p>
          <a:p>
            <a:pPr marL="342900" indent="-342900">
              <a:spcAft>
                <a:spcPts val="600"/>
              </a:spcAft>
              <a:buSzPct val="100000"/>
              <a:buChar char="•"/>
            </a:pPr>
            <a:r>
              <a:rPr lang="en-US" sz="1100" dirty="0">
                <a:solidFill>
                  <a:srgbClr val="555555"/>
                </a:solidFill>
                <a:latin typeface="Arial" pitchFamily="34" charset="0"/>
                <a:ea typeface="Arial" pitchFamily="34" charset="-122"/>
                <a:cs typeface="Arial" pitchFamily="34" charset="-120"/>
              </a:rPr>
              <a:t>Reduce lead time variability</a:t>
            </a:r>
            <a:endParaRPr lang="en-US" sz="1100" dirty="0"/>
          </a:p>
          <a:p>
            <a:pPr marL="342900" indent="-342900">
              <a:spcAft>
                <a:spcPts val="600"/>
              </a:spcAft>
              <a:buSzPct val="100000"/>
              <a:buChar char="•"/>
            </a:pPr>
            <a:r>
              <a:rPr lang="en-US" sz="1100" dirty="0">
                <a:solidFill>
                  <a:srgbClr val="555555"/>
                </a:solidFill>
                <a:latin typeface="Arial" pitchFamily="34" charset="0"/>
                <a:ea typeface="Arial" pitchFamily="34" charset="-122"/>
                <a:cs typeface="Arial" pitchFamily="34" charset="-120"/>
              </a:rPr>
              <a:t>Update safety stock levels</a:t>
            </a:r>
            <a:endParaRPr lang="en-US" sz="1100" dirty="0"/>
          </a:p>
          <a:p>
            <a:pPr marL="342900" indent="-342900">
              <a:spcAft>
                <a:spcPts val="600"/>
              </a:spcAft>
              <a:buSzPct val="100000"/>
              <a:buChar char="•"/>
            </a:pPr>
            <a:r>
              <a:rPr lang="en-US" sz="1100" dirty="0">
                <a:solidFill>
                  <a:srgbClr val="555555"/>
                </a:solidFill>
                <a:latin typeface="Arial" pitchFamily="34" charset="0"/>
                <a:ea typeface="Arial" pitchFamily="34" charset="-122"/>
                <a:cs typeface="Arial" pitchFamily="34" charset="-120"/>
              </a:rPr>
              <a:t>Prepare compliance documentation</a:t>
            </a:r>
            <a:endParaRPr lang="en-US" sz="1100" dirty="0"/>
          </a:p>
        </p:txBody>
      </p:sp>
      <p:sp>
        <p:nvSpPr>
          <p:cNvPr id="12" name="Text 10"/>
          <p:cNvSpPr/>
          <p:nvPr/>
        </p:nvSpPr>
        <p:spPr>
          <a:xfrm>
            <a:off x="5806440" y="1143000"/>
            <a:ext cx="228600" cy="320040"/>
          </a:xfrm>
          <a:prstGeom prst="rect">
            <a:avLst/>
          </a:prstGeom>
          <a:noFill/>
          <a:ln/>
        </p:spPr>
        <p:txBody>
          <a:bodyPr wrap="square" lIns="0" tIns="0" rIns="0" bIns="0" rtlCol="0" anchor="ctr"/>
          <a:lstStyle/>
          <a:p>
            <a:pPr marL="0" indent="0" algn="ctr">
              <a:buNone/>
            </a:pPr>
            <a:r>
              <a:rPr lang="en-US" sz="1400" dirty="0">
                <a:solidFill>
                  <a:srgbClr val="EB1700"/>
                </a:solidFill>
                <a:latin typeface="Arial" pitchFamily="34" charset="0"/>
                <a:ea typeface="Arial" pitchFamily="34" charset="-122"/>
                <a:cs typeface="Arial" pitchFamily="34" charset="-120"/>
              </a:rPr>
              <a:t>▸</a:t>
            </a:r>
            <a:endParaRPr lang="en-US" sz="1400" dirty="0"/>
          </a:p>
        </p:txBody>
      </p:sp>
      <p:sp>
        <p:nvSpPr>
          <p:cNvPr id="13" name="Shape 11"/>
          <p:cNvSpPr/>
          <p:nvPr/>
        </p:nvSpPr>
        <p:spPr>
          <a:xfrm>
            <a:off x="6126480" y="1097280"/>
            <a:ext cx="2377440" cy="411480"/>
          </a:xfrm>
          <a:prstGeom prst="rect">
            <a:avLst/>
          </a:prstGeom>
          <a:solidFill>
            <a:srgbClr val="00A0DF"/>
          </a:solidFill>
          <a:ln/>
        </p:spPr>
        <p:txBody>
          <a:bodyPr/>
          <a:lstStyle/>
          <a:p>
            <a:endParaRPr lang="en-US"/>
          </a:p>
        </p:txBody>
      </p:sp>
      <p:sp>
        <p:nvSpPr>
          <p:cNvPr id="14" name="Text 12"/>
          <p:cNvSpPr/>
          <p:nvPr/>
        </p:nvSpPr>
        <p:spPr>
          <a:xfrm>
            <a:off x="6263640" y="1097280"/>
            <a:ext cx="2103120" cy="411480"/>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Long-Term  (1–3 Months)</a:t>
            </a:r>
            <a:endParaRPr lang="en-US" sz="1100" dirty="0"/>
          </a:p>
        </p:txBody>
      </p:sp>
      <p:sp>
        <p:nvSpPr>
          <p:cNvPr id="15" name="Text 13"/>
          <p:cNvSpPr/>
          <p:nvPr/>
        </p:nvSpPr>
        <p:spPr>
          <a:xfrm>
            <a:off x="6217920" y="1645920"/>
            <a:ext cx="2194560" cy="2011680"/>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rgbClr val="555555"/>
                </a:solidFill>
                <a:latin typeface="Arial" pitchFamily="34" charset="0"/>
                <a:ea typeface="Arial" pitchFamily="34" charset="-122"/>
                <a:cs typeface="Arial" pitchFamily="34" charset="-120"/>
              </a:rPr>
              <a:t>Evaluate supplier performance trends</a:t>
            </a:r>
            <a:endParaRPr lang="en-US" sz="1100" dirty="0"/>
          </a:p>
          <a:p>
            <a:pPr marL="342900" indent="-342900">
              <a:spcAft>
                <a:spcPts val="600"/>
              </a:spcAft>
              <a:buSzPct val="100000"/>
              <a:buChar char="•"/>
            </a:pPr>
            <a:r>
              <a:rPr lang="en-US" sz="1100" dirty="0">
                <a:solidFill>
                  <a:srgbClr val="555555"/>
                </a:solidFill>
                <a:latin typeface="Arial" pitchFamily="34" charset="0"/>
                <a:ea typeface="Arial" pitchFamily="34" charset="-122"/>
                <a:cs typeface="Arial" pitchFamily="34" charset="-120"/>
              </a:rPr>
              <a:t>Formalize contingency agreements</a:t>
            </a:r>
            <a:endParaRPr lang="en-US" sz="1100" dirty="0"/>
          </a:p>
          <a:p>
            <a:pPr marL="342900" indent="-342900">
              <a:spcAft>
                <a:spcPts val="600"/>
              </a:spcAft>
              <a:buSzPct val="100000"/>
              <a:buChar char="•"/>
            </a:pPr>
            <a:r>
              <a:rPr lang="en-US" sz="1100" dirty="0">
                <a:solidFill>
                  <a:srgbClr val="555555"/>
                </a:solidFill>
                <a:latin typeface="Arial" pitchFamily="34" charset="0"/>
                <a:ea typeface="Arial" pitchFamily="34" charset="-122"/>
                <a:cs typeface="Arial" pitchFamily="34" charset="-120"/>
              </a:rPr>
              <a:t>Implement forecasting analytics</a:t>
            </a:r>
            <a:endParaRPr lang="en-US" sz="1100" dirty="0"/>
          </a:p>
          <a:p>
            <a:pPr marL="342900" indent="-342900">
              <a:spcAft>
                <a:spcPts val="600"/>
              </a:spcAft>
              <a:buSzPct val="100000"/>
              <a:buChar char="•"/>
            </a:pPr>
            <a:r>
              <a:rPr lang="en-US" sz="1100" dirty="0">
                <a:solidFill>
                  <a:srgbClr val="555555"/>
                </a:solidFill>
                <a:latin typeface="Arial" pitchFamily="34" charset="0"/>
                <a:ea typeface="Arial" pitchFamily="34" charset="-122"/>
                <a:cs typeface="Arial" pitchFamily="34" charset="-120"/>
              </a:rPr>
              <a:t>Strengthen early risk detection</a:t>
            </a:r>
            <a:endParaRPr lang="en-US" sz="1100" dirty="0"/>
          </a:p>
        </p:txBody>
      </p:sp>
      <p:sp>
        <p:nvSpPr>
          <p:cNvPr id="16" name="Shape 14"/>
          <p:cNvSpPr/>
          <p:nvPr/>
        </p:nvSpPr>
        <p:spPr>
          <a:xfrm>
            <a:off x="548640" y="3703320"/>
            <a:ext cx="8046720" cy="18288"/>
          </a:xfrm>
          <a:prstGeom prst="rect">
            <a:avLst/>
          </a:prstGeom>
          <a:solidFill>
            <a:srgbClr val="E0E0E0"/>
          </a:solidFill>
          <a:ln/>
        </p:spPr>
        <p:txBody>
          <a:bodyPr/>
          <a:lstStyle/>
          <a:p>
            <a:endParaRPr lang="en-US"/>
          </a:p>
        </p:txBody>
      </p:sp>
      <p:sp>
        <p:nvSpPr>
          <p:cNvPr id="17" name="Text 15"/>
          <p:cNvSpPr/>
          <p:nvPr/>
        </p:nvSpPr>
        <p:spPr>
          <a:xfrm>
            <a:off x="548640" y="3840480"/>
            <a:ext cx="8046720" cy="320040"/>
          </a:xfrm>
          <a:prstGeom prst="rect">
            <a:avLst/>
          </a:prstGeom>
          <a:noFill/>
          <a:ln/>
        </p:spPr>
        <p:txBody>
          <a:bodyPr wrap="square" lIns="0" tIns="0" rIns="0" bIns="0" rtlCol="0" anchor="ctr"/>
          <a:lstStyle/>
          <a:p>
            <a:pPr marL="0" indent="0">
              <a:buNone/>
            </a:pPr>
            <a:r>
              <a:rPr lang="en-US" sz="1100" b="1" dirty="0">
                <a:solidFill>
                  <a:srgbClr val="EB1700"/>
                </a:solidFill>
                <a:latin typeface="Arial" pitchFamily="34" charset="0"/>
                <a:ea typeface="Arial" pitchFamily="34" charset="-122"/>
                <a:cs typeface="Arial" pitchFamily="34" charset="-120"/>
              </a:rPr>
              <a:t>Monitoring KPIs: </a:t>
            </a:r>
            <a:r>
              <a:rPr lang="en-US" sz="1100" dirty="0">
                <a:solidFill>
                  <a:srgbClr val="444444"/>
                </a:solidFill>
                <a:latin typeface="Arial" pitchFamily="34" charset="0"/>
                <a:ea typeface="Arial" pitchFamily="34" charset="-122"/>
                <a:cs typeface="Arial" pitchFamily="34" charset="-120"/>
              </a:rPr>
              <a:t>On-Time Delivery ≥ 95%  |  Defect Rate &lt; 2%  |  Reporting: Daily / Weekly / Monthly reviews</a:t>
            </a:r>
            <a:endParaRPr lang="en-US" sz="1100" dirty="0"/>
          </a:p>
        </p:txBody>
      </p:sp>
      <p:sp>
        <p:nvSpPr>
          <p:cNvPr id="18" name="Text 16"/>
          <p:cNvSpPr/>
          <p:nvPr/>
        </p:nvSpPr>
        <p:spPr>
          <a:xfrm>
            <a:off x="548640" y="4297680"/>
            <a:ext cx="8046720" cy="457200"/>
          </a:xfrm>
          <a:prstGeom prst="rect">
            <a:avLst/>
          </a:prstGeom>
          <a:noFill/>
          <a:ln/>
        </p:spPr>
        <p:txBody>
          <a:bodyPr wrap="square" lIns="0" tIns="0" rIns="0" bIns="0" rtlCol="0" anchor="ctr"/>
          <a:lstStyle/>
          <a:p>
            <a:pPr marL="0" indent="0">
              <a:buNone/>
            </a:pPr>
            <a:r>
              <a:rPr lang="en-US" sz="1100" b="1" dirty="0">
                <a:solidFill>
                  <a:srgbClr val="EB1700"/>
                </a:solidFill>
                <a:latin typeface="Arial" pitchFamily="34" charset="0"/>
                <a:ea typeface="Arial" pitchFamily="34" charset="-122"/>
                <a:cs typeface="Arial" pitchFamily="34" charset="-120"/>
              </a:rPr>
              <a:t>Next Step: </a:t>
            </a:r>
            <a:r>
              <a:rPr lang="en-US" sz="1100" dirty="0">
                <a:solidFill>
                  <a:srgbClr val="444444"/>
                </a:solidFill>
                <a:latin typeface="Arial" pitchFamily="34" charset="0"/>
                <a:ea typeface="Arial" pitchFamily="34" charset="-122"/>
                <a:cs typeface="Arial" pitchFamily="34" charset="-120"/>
              </a:rPr>
              <a:t>Align on action owners today and begin immediate execution. Cross-functional ownership is essential for sustained supply resilience.</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3ca48ea3-8c75-4d36-b64f-70604b11fd22}" enabled="1" method="Standard" siteId="{3ac94b33-9135-4821-9502-eafda6592a35}" removed="0"/>
</clbl:labelList>
</file>

<file path=docProps/app.xml><?xml version="1.0" encoding="utf-8"?>
<Properties xmlns="http://schemas.openxmlformats.org/officeDocument/2006/extended-properties" xmlns:vt="http://schemas.openxmlformats.org/officeDocument/2006/docPropsVTypes">
  <TotalTime>31</TotalTime>
  <Words>1440</Words>
  <Application>Microsoft Office PowerPoint</Application>
  <PresentationFormat>On-screen Show (16:9)</PresentationFormat>
  <Paragraphs>169</Paragraphs>
  <Slides>5</Slides>
  <Notes>5</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5</vt:i4>
      </vt:variant>
    </vt:vector>
  </HeadingPairs>
  <TitlesOfParts>
    <vt:vector size="7" baseType="lpstr">
      <vt:lpstr>Arial</vt:lpstr>
      <vt:lpstr>Office Theme</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Rudnikova, Maria [JANRU]</dc:creator>
  <cp:lastModifiedBy>Rudnikova, Maria [JANRU]</cp:lastModifiedBy>
  <cp:revision>1</cp:revision>
  <dcterms:created xsi:type="dcterms:W3CDTF">2026-05-25T19:59:16Z</dcterms:created>
  <dcterms:modified xsi:type="dcterms:W3CDTF">2026-05-25T20:31:00Z</dcterms:modified>
</cp:coreProperties>
</file>